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  <p:sldId id="266" r:id="rId3"/>
    <p:sldId id="265" r:id="rId4"/>
    <p:sldId id="256" r:id="rId5"/>
  </p:sldIdLst>
  <p:sldSz cx="1920081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F5DB"/>
    <a:srgbClr val="BDE9D8"/>
    <a:srgbClr val="F5F9FD"/>
    <a:srgbClr val="A6CAEC"/>
    <a:srgbClr val="C2A54F"/>
    <a:srgbClr val="FFE699"/>
    <a:srgbClr val="BFB571"/>
    <a:srgbClr val="C95618"/>
    <a:srgbClr val="C28767"/>
    <a:srgbClr val="E6DA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6B8362-1B5D-DE9E-E657-CF810946AE21}" v="592" dt="2025-12-02T16:07:04.722"/>
    <p1510:client id="{862067E2-4F1A-1EFD-4D66-8729B260F02C}" v="186" dt="2025-12-04T11:13:17.962"/>
    <p1510:client id="{B5D6A453-186C-1A80-F7BF-36517AD435AC}" v="57" dt="2025-12-02T14:22:16.724"/>
    <p1510:client id="{DA215B05-F3F1-503A-71A7-5F95091B94B1}" v="1601" dt="2025-12-04T11:04:33.0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85" autoAdjust="0"/>
    <p:restoredTop sz="94660"/>
  </p:normalViewPr>
  <p:slideViewPr>
    <p:cSldViewPr snapToGrid="0">
      <p:cViewPr varScale="1">
        <p:scale>
          <a:sx n="37" d="100"/>
          <a:sy n="37" d="100"/>
        </p:scale>
        <p:origin x="196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061" y="2356703"/>
            <a:ext cx="16320691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00102" y="7563446"/>
            <a:ext cx="14400610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7383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6108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0057" y="3590057"/>
            <a:ext cx="16560701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0057" y="9636813"/>
            <a:ext cx="16560701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6596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20056" y="3833390"/>
            <a:ext cx="8160346" cy="913680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20411" y="3833390"/>
            <a:ext cx="8160346" cy="913680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0298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557" y="766681"/>
            <a:ext cx="16560701" cy="278337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2559" y="3530053"/>
            <a:ext cx="8122843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2559" y="5260078"/>
            <a:ext cx="8122843" cy="77367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720413" y="3530053"/>
            <a:ext cx="8162846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720413" y="5260078"/>
            <a:ext cx="8162846" cy="77367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1567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642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741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557" y="960014"/>
            <a:ext cx="6192762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2846" y="2073367"/>
            <a:ext cx="9720412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2557" y="4320064"/>
            <a:ext cx="6192762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414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557" y="960014"/>
            <a:ext cx="6192762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62846" y="2073367"/>
            <a:ext cx="9720412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2557" y="4320064"/>
            <a:ext cx="6192762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2258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8361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740583" y="766678"/>
            <a:ext cx="4140175" cy="1220351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20057" y="766678"/>
            <a:ext cx="12180516" cy="1220351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134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20056" y="766681"/>
            <a:ext cx="16560701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0056" y="3833390"/>
            <a:ext cx="16560701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20056" y="13346867"/>
            <a:ext cx="4320183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60270" y="13346867"/>
            <a:ext cx="648027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560574" y="13346867"/>
            <a:ext cx="4320183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3365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1789C-CB0B-DA07-5C2E-8776FFC45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625" y="5354547"/>
            <a:ext cx="11695448" cy="1240344"/>
          </a:xfrm>
        </p:spPr>
        <p:txBody>
          <a:bodyPr>
            <a:normAutofit fontScale="90000"/>
          </a:bodyPr>
          <a:lstStyle/>
          <a:p>
            <a:r>
              <a:rPr lang="fr-FR" dirty="0"/>
              <a:t>IBAN SYS – V2</a:t>
            </a:r>
            <a:br>
              <a:rPr lang="fr-FR" dirty="0"/>
            </a:br>
            <a:br>
              <a:rPr lang="fr-FR" dirty="0"/>
            </a:br>
            <a:r>
              <a:rPr lang="fr-FR" sz="3600" dirty="0"/>
              <a:t>Spécification fonctionnelle </a:t>
            </a:r>
            <a:br>
              <a:rPr lang="fr-FR" sz="3600" dirty="0"/>
            </a:br>
            <a:r>
              <a:rPr lang="fr-FR" sz="3600" dirty="0"/>
              <a:t>&amp;</a:t>
            </a:r>
          </a:p>
          <a:p>
            <a:r>
              <a:rPr lang="fr-FR" sz="3600" dirty="0"/>
              <a:t>Architecture  </a:t>
            </a:r>
            <a:br>
              <a:rPr lang="fr-FR" sz="3600" dirty="0"/>
            </a:br>
            <a:br>
              <a:rPr lang="fr-FR" sz="3600" dirty="0"/>
            </a:br>
            <a:r>
              <a:rPr lang="fr-FR" sz="6700" dirty="0"/>
              <a:t>Module  </a:t>
            </a:r>
            <a:r>
              <a:rPr lang="fr-FR" dirty="0"/>
              <a:t>AVA</a:t>
            </a:r>
          </a:p>
        </p:txBody>
      </p:sp>
    </p:spTree>
    <p:extLst>
      <p:ext uri="{BB962C8B-B14F-4D97-AF65-F5344CB8AC3E}">
        <p14:creationId xmlns:p14="http://schemas.microsoft.com/office/powerpoint/2010/main" val="4129107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7E82E-57E1-F64C-FD00-769FE021C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76885CD-2A7A-8E7E-B0F1-CFBB5DC48006}"/>
              </a:ext>
            </a:extLst>
          </p:cNvPr>
          <p:cNvSpPr/>
          <p:nvPr/>
        </p:nvSpPr>
        <p:spPr>
          <a:xfrm>
            <a:off x="678722" y="5785391"/>
            <a:ext cx="9336061" cy="8387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85561" tIns="42781" rIns="85561" bIns="42781" rtlCol="0" anchor="ctr"/>
          <a:lstStyle/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r>
              <a:rPr lang="fr-FR" sz="2400" dirty="0">
                <a:solidFill>
                  <a:srgbClr val="000000"/>
                </a:solidFill>
              </a:rPr>
              <a:t>Processus métiers décisionnels</a:t>
            </a:r>
          </a:p>
          <a:p>
            <a:pPr algn="ctr"/>
            <a:r>
              <a:rPr lang="fr-FR" dirty="0">
                <a:solidFill>
                  <a:srgbClr val="000000"/>
                </a:solidFill>
              </a:rPr>
              <a:t>Moteur de workflow : Pattern SAGA</a:t>
            </a:r>
          </a:p>
          <a:p>
            <a:pPr algn="ctr"/>
            <a:endParaRPr lang="fr-FR" dirty="0">
              <a:solidFill>
                <a:srgbClr val="000000"/>
              </a:solidFill>
            </a:endParaRPr>
          </a:p>
          <a:p>
            <a:pPr algn="ctr"/>
            <a:endParaRPr lang="fr-FR" dirty="0">
              <a:solidFill>
                <a:srgbClr val="000000"/>
              </a:solidFill>
            </a:endParaRPr>
          </a:p>
          <a:p>
            <a:pPr algn="ctr"/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AC2279A-8E27-0A5B-D63C-FCCD1165E34A}"/>
              </a:ext>
            </a:extLst>
          </p:cNvPr>
          <p:cNvSpPr/>
          <p:nvPr/>
        </p:nvSpPr>
        <p:spPr>
          <a:xfrm>
            <a:off x="4219468" y="3324547"/>
            <a:ext cx="5795316" cy="92606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2400" dirty="0">
                <a:solidFill>
                  <a:srgbClr val="000000"/>
                </a:solidFill>
              </a:rPr>
              <a:t>API Gateway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EC8002-E515-2B13-4F29-BB2E792FC655}"/>
              </a:ext>
            </a:extLst>
          </p:cNvPr>
          <p:cNvSpPr/>
          <p:nvPr/>
        </p:nvSpPr>
        <p:spPr>
          <a:xfrm>
            <a:off x="653761" y="3304544"/>
            <a:ext cx="3278086" cy="97276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2400" dirty="0">
                <a:solidFill>
                  <a:srgbClr val="000000"/>
                </a:solidFill>
              </a:rPr>
              <a:t>IAM / Auth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109577-E0B6-2341-9F6C-A6B841D17256}"/>
              </a:ext>
            </a:extLst>
          </p:cNvPr>
          <p:cNvSpPr/>
          <p:nvPr/>
        </p:nvSpPr>
        <p:spPr>
          <a:xfrm>
            <a:off x="5355394" y="6884053"/>
            <a:ext cx="2306880" cy="393256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2400" dirty="0">
                <a:solidFill>
                  <a:srgbClr val="000000"/>
                </a:solidFill>
              </a:rPr>
              <a:t>Services métiers</a:t>
            </a: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695DF-F227-7FD6-6096-675D9A3974C3}"/>
              </a:ext>
            </a:extLst>
          </p:cNvPr>
          <p:cNvSpPr/>
          <p:nvPr/>
        </p:nvSpPr>
        <p:spPr>
          <a:xfrm>
            <a:off x="7843847" y="6894669"/>
            <a:ext cx="2159116" cy="391959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2400" dirty="0">
                <a:solidFill>
                  <a:srgbClr val="000000"/>
                </a:solidFill>
              </a:rPr>
              <a:t>Services référentiels</a:t>
            </a: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317948-C4AD-8D7C-8537-15EA9A7B21E6}"/>
              </a:ext>
            </a:extLst>
          </p:cNvPr>
          <p:cNvSpPr/>
          <p:nvPr/>
        </p:nvSpPr>
        <p:spPr>
          <a:xfrm>
            <a:off x="678720" y="11137526"/>
            <a:ext cx="9336061" cy="7884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2400" dirty="0">
                <a:solidFill>
                  <a:srgbClr val="000000"/>
                </a:solidFill>
              </a:rPr>
              <a:t>Persistance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9068FC-A163-5BBF-8B58-CD7F9FFF5A90}"/>
              </a:ext>
            </a:extLst>
          </p:cNvPr>
          <p:cNvSpPr/>
          <p:nvPr/>
        </p:nvSpPr>
        <p:spPr>
          <a:xfrm>
            <a:off x="678720" y="2035447"/>
            <a:ext cx="5904960" cy="92606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2400" dirty="0">
                <a:solidFill>
                  <a:srgbClr val="000000"/>
                </a:solidFill>
              </a:rPr>
              <a:t>Frontend</a:t>
            </a:r>
          </a:p>
        </p:txBody>
      </p:sp>
      <p:sp>
        <p:nvSpPr>
          <p:cNvPr id="18" name="Rectangle 23">
            <a:extLst>
              <a:ext uri="{FF2B5EF4-FFF2-40B4-BE49-F238E27FC236}">
                <a16:creationId xmlns:a16="http://schemas.microsoft.com/office/drawing/2014/main" id="{21F78525-070B-CBB5-DB64-6627DBC0AC0E}"/>
              </a:ext>
            </a:extLst>
          </p:cNvPr>
          <p:cNvSpPr/>
          <p:nvPr/>
        </p:nvSpPr>
        <p:spPr>
          <a:xfrm>
            <a:off x="953888" y="5922460"/>
            <a:ext cx="1598229" cy="622705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rgbClr val="000000"/>
                </a:solidFill>
              </a:rPr>
              <a:t>MS WF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C0775C-ECCE-027E-9826-9637BC603F9B}"/>
              </a:ext>
            </a:extLst>
          </p:cNvPr>
          <p:cNvSpPr/>
          <p:nvPr/>
        </p:nvSpPr>
        <p:spPr>
          <a:xfrm>
            <a:off x="678722" y="4635737"/>
            <a:ext cx="9336061" cy="8263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85561" tIns="42781" rIns="85561" bIns="42781" rtlCol="0" anchor="ctr"/>
          <a:lstStyle/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r>
              <a:rPr lang="fr-FR" sz="2400" dirty="0">
                <a:solidFill>
                  <a:srgbClr val="000000"/>
                </a:solidFill>
              </a:rPr>
              <a:t>Orchestration des API frontales</a:t>
            </a:r>
          </a:p>
          <a:p>
            <a:pPr algn="ctr"/>
            <a:r>
              <a:rPr lang="fr-FR" dirty="0">
                <a:solidFill>
                  <a:srgbClr val="000000"/>
                </a:solidFill>
              </a:rPr>
              <a:t> Backend For Frontend</a:t>
            </a:r>
          </a:p>
          <a:p>
            <a:pPr algn="ctr"/>
            <a:endParaRPr lang="fr-FR" dirty="0">
              <a:solidFill>
                <a:srgbClr val="000000"/>
              </a:solidFill>
            </a:endParaRPr>
          </a:p>
          <a:p>
            <a:pPr algn="ctr"/>
            <a:endParaRPr lang="fr-FR" dirty="0">
              <a:solidFill>
                <a:srgbClr val="000000"/>
              </a:solidFill>
            </a:endParaRPr>
          </a:p>
          <a:p>
            <a:pPr algn="ctr"/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60B2536-1210-6559-B64F-B1F1087E2D7D}"/>
              </a:ext>
            </a:extLst>
          </p:cNvPr>
          <p:cNvSpPr/>
          <p:nvPr/>
        </p:nvSpPr>
        <p:spPr>
          <a:xfrm>
            <a:off x="10221892" y="2035447"/>
            <a:ext cx="858467" cy="98905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lIns="85561" tIns="42781" rIns="85561" bIns="42781" rtlCol="0" anchor="ctr"/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Supervision &amp; Observabilité </a:t>
            </a:r>
          </a:p>
        </p:txBody>
      </p:sp>
      <p:sp>
        <p:nvSpPr>
          <p:cNvPr id="39" name="Rectangle 23">
            <a:extLst>
              <a:ext uri="{FF2B5EF4-FFF2-40B4-BE49-F238E27FC236}">
                <a16:creationId xmlns:a16="http://schemas.microsoft.com/office/drawing/2014/main" id="{C7278F21-D79C-794D-AE29-3BDE10D86885}"/>
              </a:ext>
            </a:extLst>
          </p:cNvPr>
          <p:cNvSpPr/>
          <p:nvPr/>
        </p:nvSpPr>
        <p:spPr>
          <a:xfrm>
            <a:off x="940316" y="4770507"/>
            <a:ext cx="1598229" cy="622705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rgbClr val="000000"/>
                </a:solidFill>
              </a:rPr>
              <a:t>MS BFF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378BAAA-8FD2-C4CC-0787-D3470CD8BDE5}"/>
              </a:ext>
            </a:extLst>
          </p:cNvPr>
          <p:cNvSpPr/>
          <p:nvPr/>
        </p:nvSpPr>
        <p:spPr>
          <a:xfrm>
            <a:off x="688557" y="6881696"/>
            <a:ext cx="4459726" cy="393256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r>
              <a:rPr lang="fr-FR" sz="2400" dirty="0">
                <a:solidFill>
                  <a:srgbClr val="000000"/>
                </a:solidFill>
              </a:rPr>
              <a:t>Services</a:t>
            </a:r>
          </a:p>
          <a:p>
            <a:pPr algn="ctr"/>
            <a:r>
              <a:rPr lang="fr-FR" sz="2400" dirty="0">
                <a:solidFill>
                  <a:srgbClr val="000000"/>
                </a:solidFill>
              </a:rPr>
              <a:t>transverses</a:t>
            </a: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  <a:p>
            <a:pPr algn="ctr"/>
            <a:endParaRPr lang="fr-FR" sz="2400" dirty="0">
              <a:solidFill>
                <a:srgbClr val="000000"/>
              </a:solidFill>
            </a:endParaRPr>
          </a:p>
        </p:txBody>
      </p:sp>
      <p:sp>
        <p:nvSpPr>
          <p:cNvPr id="41" name="Rectangle 22">
            <a:extLst>
              <a:ext uri="{FF2B5EF4-FFF2-40B4-BE49-F238E27FC236}">
                <a16:creationId xmlns:a16="http://schemas.microsoft.com/office/drawing/2014/main" id="{7C5C0671-03CC-E993-E4FB-C659F79B8D29}"/>
              </a:ext>
            </a:extLst>
          </p:cNvPr>
          <p:cNvSpPr/>
          <p:nvPr/>
        </p:nvSpPr>
        <p:spPr>
          <a:xfrm>
            <a:off x="918129" y="7774545"/>
            <a:ext cx="1671099" cy="850621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rgbClr val="000000"/>
                </a:solidFill>
              </a:rPr>
              <a:t>MS </a:t>
            </a:r>
          </a:p>
          <a:p>
            <a:pPr algn="ctr"/>
            <a:r>
              <a:rPr lang="fr-FR" sz="1684" dirty="0">
                <a:solidFill>
                  <a:srgbClr val="000000"/>
                </a:solidFill>
              </a:rPr>
              <a:t>Mailing &amp; Notifications</a:t>
            </a:r>
            <a:endParaRPr lang="fr-FR" sz="1684" dirty="0"/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F2F9DF43-45ED-3557-686E-07E2FE8344F7}"/>
              </a:ext>
            </a:extLst>
          </p:cNvPr>
          <p:cNvGrpSpPr/>
          <p:nvPr/>
        </p:nvGrpSpPr>
        <p:grpSpPr>
          <a:xfrm>
            <a:off x="2830124" y="8761209"/>
            <a:ext cx="1955236" cy="854021"/>
            <a:chOff x="1224912" y="8649157"/>
            <a:chExt cx="2113684" cy="854021"/>
          </a:xfrm>
        </p:grpSpPr>
        <p:sp>
          <p:nvSpPr>
            <p:cNvPr id="43" name="Rectangle 18">
              <a:extLst>
                <a:ext uri="{FF2B5EF4-FFF2-40B4-BE49-F238E27FC236}">
                  <a16:creationId xmlns:a16="http://schemas.microsoft.com/office/drawing/2014/main" id="{D2AD9B8D-3DEF-A06D-6699-C3277510EC96}"/>
                </a:ext>
              </a:extLst>
            </p:cNvPr>
            <p:cNvSpPr/>
            <p:nvPr/>
          </p:nvSpPr>
          <p:spPr>
            <a:xfrm>
              <a:off x="1224912" y="8649157"/>
              <a:ext cx="2113684" cy="854021"/>
            </a:xfrm>
            <a:prstGeom prst="roundRect">
              <a:avLst/>
            </a:prstGeom>
            <a:solidFill>
              <a:srgbClr val="F5F9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5561" tIns="42781" rIns="85561" bIns="42781" rtlCol="0" anchor="ctr"/>
            <a:lstStyle/>
            <a:p>
              <a:pPr algn="ctr"/>
              <a:r>
                <a:rPr lang="fr-FR" sz="1684" dirty="0">
                  <a:solidFill>
                    <a:srgbClr val="000000"/>
                  </a:solidFill>
                </a:rPr>
                <a:t>MS RECOM  </a:t>
              </a:r>
              <a:r>
                <a:rPr lang="fr-FR" sz="1310" dirty="0" err="1">
                  <a:solidFill>
                    <a:srgbClr val="000000"/>
                  </a:solidFill>
                </a:rPr>
                <a:t>Reporting</a:t>
              </a:r>
              <a:r>
                <a:rPr lang="fr-FR" sz="1310" dirty="0">
                  <a:solidFill>
                    <a:srgbClr val="000000"/>
                  </a:solidFill>
                </a:rPr>
                <a:t> Interne &amp; Commissionnement</a:t>
              </a:r>
              <a:endParaRPr lang="fr-FR" sz="1684" dirty="0">
                <a:solidFill>
                  <a:srgbClr val="000000"/>
                </a:solidFill>
              </a:endParaRPr>
            </a:p>
          </p:txBody>
        </p:sp>
        <p:pic>
          <p:nvPicPr>
            <p:cNvPr id="44" name="Image 43" descr="Microservice - Free electronics icons">
              <a:extLst>
                <a:ext uri="{FF2B5EF4-FFF2-40B4-BE49-F238E27FC236}">
                  <a16:creationId xmlns:a16="http://schemas.microsoft.com/office/drawing/2014/main" id="{7C194D1A-3CCB-3E7E-4F1C-AFBD6773A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3966" y="8670692"/>
              <a:ext cx="289661" cy="323083"/>
            </a:xfrm>
            <a:prstGeom prst="rect">
              <a:avLst/>
            </a:prstGeom>
          </p:spPr>
        </p:pic>
      </p:grpSp>
      <p:pic>
        <p:nvPicPr>
          <p:cNvPr id="45" name="Image 44" descr="Microservice - Free electronics icons">
            <a:extLst>
              <a:ext uri="{FF2B5EF4-FFF2-40B4-BE49-F238E27FC236}">
                <a16:creationId xmlns:a16="http://schemas.microsoft.com/office/drawing/2014/main" id="{FA446C5C-4D3A-C684-6727-22B3C9DD1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88" y="7806494"/>
            <a:ext cx="233530" cy="323083"/>
          </a:xfrm>
          <a:prstGeom prst="rect">
            <a:avLst/>
          </a:prstGeom>
        </p:spPr>
      </p:pic>
      <p:grpSp>
        <p:nvGrpSpPr>
          <p:cNvPr id="46" name="Groupe 45">
            <a:extLst>
              <a:ext uri="{FF2B5EF4-FFF2-40B4-BE49-F238E27FC236}">
                <a16:creationId xmlns:a16="http://schemas.microsoft.com/office/drawing/2014/main" id="{820D331A-5DB4-A0CC-2331-74BD9807A7BB}"/>
              </a:ext>
            </a:extLst>
          </p:cNvPr>
          <p:cNvGrpSpPr/>
          <p:nvPr/>
        </p:nvGrpSpPr>
        <p:grpSpPr>
          <a:xfrm>
            <a:off x="2830124" y="7789232"/>
            <a:ext cx="1955236" cy="856572"/>
            <a:chOff x="1173530" y="9624569"/>
            <a:chExt cx="2425196" cy="856572"/>
          </a:xfrm>
        </p:grpSpPr>
        <p:sp>
          <p:nvSpPr>
            <p:cNvPr id="47" name="Rectangle 23">
              <a:extLst>
                <a:ext uri="{FF2B5EF4-FFF2-40B4-BE49-F238E27FC236}">
                  <a16:creationId xmlns:a16="http://schemas.microsoft.com/office/drawing/2014/main" id="{6AD8DC1C-37D7-7F57-3E3A-F6A42B35CAC6}"/>
                </a:ext>
              </a:extLst>
            </p:cNvPr>
            <p:cNvSpPr/>
            <p:nvPr/>
          </p:nvSpPr>
          <p:spPr>
            <a:xfrm>
              <a:off x="1173530" y="9624569"/>
              <a:ext cx="2425196" cy="856572"/>
            </a:xfrm>
            <a:prstGeom prst="roundRect">
              <a:avLst/>
            </a:prstGeom>
            <a:solidFill>
              <a:srgbClr val="F5F9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5561" tIns="42781" rIns="85561" bIns="42781" rtlCol="0" anchor="ctr"/>
            <a:lstStyle/>
            <a:p>
              <a:pPr algn="ctr"/>
              <a:r>
                <a:rPr lang="fr-FR" sz="1684" dirty="0">
                  <a:solidFill>
                    <a:srgbClr val="000000"/>
                  </a:solidFill>
                </a:rPr>
                <a:t>MS ÉDITIQUE</a:t>
              </a:r>
            </a:p>
          </p:txBody>
        </p:sp>
        <p:pic>
          <p:nvPicPr>
            <p:cNvPr id="48" name="Image 47" descr="Microservice - Free electronics icons">
              <a:extLst>
                <a:ext uri="{FF2B5EF4-FFF2-40B4-BE49-F238E27FC236}">
                  <a16:creationId xmlns:a16="http://schemas.microsoft.com/office/drawing/2014/main" id="{9AF54E94-9260-6F6D-6B9A-FE6D2FFEA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3445" y="9641831"/>
              <a:ext cx="289661" cy="323083"/>
            </a:xfrm>
            <a:prstGeom prst="rect">
              <a:avLst/>
            </a:prstGeom>
          </p:spPr>
        </p:pic>
      </p:grp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C5A51C32-88D9-267C-3348-E78888611935}"/>
              </a:ext>
            </a:extLst>
          </p:cNvPr>
          <p:cNvGrpSpPr/>
          <p:nvPr/>
        </p:nvGrpSpPr>
        <p:grpSpPr>
          <a:xfrm>
            <a:off x="1727284" y="9789437"/>
            <a:ext cx="1981027" cy="850621"/>
            <a:chOff x="1141296" y="7237090"/>
            <a:chExt cx="2274541" cy="850621"/>
          </a:xfrm>
        </p:grpSpPr>
        <p:sp>
          <p:nvSpPr>
            <p:cNvPr id="50" name="Rectangle 16">
              <a:extLst>
                <a:ext uri="{FF2B5EF4-FFF2-40B4-BE49-F238E27FC236}">
                  <a16:creationId xmlns:a16="http://schemas.microsoft.com/office/drawing/2014/main" id="{66C082FD-CEBF-402B-7DBC-D355F8FCEFF4}"/>
                </a:ext>
              </a:extLst>
            </p:cNvPr>
            <p:cNvSpPr/>
            <p:nvPr/>
          </p:nvSpPr>
          <p:spPr>
            <a:xfrm>
              <a:off x="1141296" y="7237090"/>
              <a:ext cx="2274541" cy="850621"/>
            </a:xfrm>
            <a:prstGeom prst="roundRect">
              <a:avLst/>
            </a:prstGeom>
            <a:solidFill>
              <a:srgbClr val="F5F9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5561" tIns="42781" rIns="85561" bIns="42781" rtlCol="0" anchor="ctr"/>
            <a:lstStyle/>
            <a:p>
              <a:pPr algn="ctr"/>
              <a:r>
                <a:rPr lang="fr-FR" sz="1684" dirty="0">
                  <a:solidFill>
                    <a:srgbClr val="000000"/>
                  </a:solidFill>
                </a:rPr>
                <a:t>MS  REPORTING </a:t>
              </a:r>
              <a:r>
                <a:rPr lang="fr-FR" sz="1123" dirty="0">
                  <a:solidFill>
                    <a:srgbClr val="000000"/>
                  </a:solidFill>
                </a:rPr>
                <a:t>Centrale des Engagements</a:t>
              </a:r>
              <a:endParaRPr lang="fr-FR" sz="1684" dirty="0"/>
            </a:p>
          </p:txBody>
        </p:sp>
        <p:pic>
          <p:nvPicPr>
            <p:cNvPr id="51" name="Image 50" descr="Microservice - Free electronics icons">
              <a:extLst>
                <a:ext uri="{FF2B5EF4-FFF2-40B4-BE49-F238E27FC236}">
                  <a16:creationId xmlns:a16="http://schemas.microsoft.com/office/drawing/2014/main" id="{7E97B2FB-BF8F-0556-1B16-706D3F993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1167" y="7274972"/>
              <a:ext cx="289661" cy="323083"/>
            </a:xfrm>
            <a:prstGeom prst="rect">
              <a:avLst/>
            </a:prstGeom>
          </p:spPr>
        </p:pic>
      </p:grpSp>
      <p:sp>
        <p:nvSpPr>
          <p:cNvPr id="54" name="Rectangle 23">
            <a:extLst>
              <a:ext uri="{FF2B5EF4-FFF2-40B4-BE49-F238E27FC236}">
                <a16:creationId xmlns:a16="http://schemas.microsoft.com/office/drawing/2014/main" id="{65196439-3C48-E209-AD61-3C81DB8611D8}"/>
              </a:ext>
            </a:extLst>
          </p:cNvPr>
          <p:cNvSpPr/>
          <p:nvPr/>
        </p:nvSpPr>
        <p:spPr>
          <a:xfrm>
            <a:off x="895331" y="8761209"/>
            <a:ext cx="1656449" cy="865371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rgbClr val="000000"/>
                </a:solidFill>
              </a:rPr>
              <a:t>MS  GEN</a:t>
            </a:r>
          </a:p>
          <a:p>
            <a:pPr algn="ctr"/>
            <a:r>
              <a:rPr lang="fr-FR" sz="1400" dirty="0">
                <a:solidFill>
                  <a:srgbClr val="000000"/>
                </a:solidFill>
              </a:rPr>
              <a:t>Générique</a:t>
            </a:r>
          </a:p>
        </p:txBody>
      </p:sp>
      <p:pic>
        <p:nvPicPr>
          <p:cNvPr id="55" name="Image 54" descr="Microservice - Free electronics icons">
            <a:extLst>
              <a:ext uri="{FF2B5EF4-FFF2-40B4-BE49-F238E27FC236}">
                <a16:creationId xmlns:a16="http://schemas.microsoft.com/office/drawing/2014/main" id="{0AF8EDF8-EEC8-5A44-CB98-C8113CCB5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551" y="8834207"/>
            <a:ext cx="233530" cy="323083"/>
          </a:xfrm>
          <a:prstGeom prst="rect">
            <a:avLst/>
          </a:prstGeom>
        </p:spPr>
      </p:pic>
      <p:sp>
        <p:nvSpPr>
          <p:cNvPr id="57" name="Rectangle 5">
            <a:extLst>
              <a:ext uri="{FF2B5EF4-FFF2-40B4-BE49-F238E27FC236}">
                <a16:creationId xmlns:a16="http://schemas.microsoft.com/office/drawing/2014/main" id="{06F4FFDF-1756-42B1-4AB1-55350A0B7616}"/>
              </a:ext>
            </a:extLst>
          </p:cNvPr>
          <p:cNvSpPr/>
          <p:nvPr/>
        </p:nvSpPr>
        <p:spPr>
          <a:xfrm>
            <a:off x="8054357" y="7814780"/>
            <a:ext cx="1663114" cy="850621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rgbClr val="000000"/>
                </a:solidFill>
              </a:rPr>
              <a:t>MS </a:t>
            </a:r>
          </a:p>
          <a:p>
            <a:pPr algn="ctr"/>
            <a:r>
              <a:rPr lang="fr-FR" sz="1684" dirty="0">
                <a:solidFill>
                  <a:srgbClr val="000000"/>
                </a:solidFill>
              </a:rPr>
              <a:t>Référentiel Métier</a:t>
            </a:r>
          </a:p>
        </p:txBody>
      </p:sp>
      <p:sp>
        <p:nvSpPr>
          <p:cNvPr id="58" name="Rectangle 1">
            <a:extLst>
              <a:ext uri="{FF2B5EF4-FFF2-40B4-BE49-F238E27FC236}">
                <a16:creationId xmlns:a16="http://schemas.microsoft.com/office/drawing/2014/main" id="{0E961714-D395-43BB-7F5D-14BB81636C35}"/>
              </a:ext>
            </a:extLst>
          </p:cNvPr>
          <p:cNvSpPr/>
          <p:nvPr/>
        </p:nvSpPr>
        <p:spPr>
          <a:xfrm>
            <a:off x="5652176" y="8819824"/>
            <a:ext cx="1731755" cy="858556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rgbClr val="000000"/>
                </a:solidFill>
              </a:rPr>
              <a:t>MS DOMICILIATION</a:t>
            </a:r>
            <a:endParaRPr lang="fr-FR" sz="1684" dirty="0"/>
          </a:p>
        </p:txBody>
      </p:sp>
      <p:sp>
        <p:nvSpPr>
          <p:cNvPr id="59" name="Rectangle 7">
            <a:extLst>
              <a:ext uri="{FF2B5EF4-FFF2-40B4-BE49-F238E27FC236}">
                <a16:creationId xmlns:a16="http://schemas.microsoft.com/office/drawing/2014/main" id="{FDBD0A31-FF30-12E9-273C-7B4EEC3464B9}"/>
              </a:ext>
            </a:extLst>
          </p:cNvPr>
          <p:cNvSpPr/>
          <p:nvPr/>
        </p:nvSpPr>
        <p:spPr>
          <a:xfrm>
            <a:off x="5654256" y="7851211"/>
            <a:ext cx="1729674" cy="858556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rgbClr val="000000"/>
                </a:solidFill>
              </a:rPr>
              <a:t>MS AVA </a:t>
            </a:r>
          </a:p>
          <a:p>
            <a:pPr algn="ctr"/>
            <a:r>
              <a:rPr lang="fr-FR" sz="1684" dirty="0">
                <a:solidFill>
                  <a:srgbClr val="000000"/>
                </a:solidFill>
              </a:rPr>
              <a:t> </a:t>
            </a:r>
            <a:r>
              <a:rPr lang="fr-FR" sz="1123" dirty="0">
                <a:solidFill>
                  <a:srgbClr val="000000"/>
                </a:solidFill>
              </a:rPr>
              <a:t>Allocation Voyages d'Affaires</a:t>
            </a:r>
            <a:endParaRPr lang="fr-FR" sz="1684" dirty="0"/>
          </a:p>
        </p:txBody>
      </p:sp>
      <p:sp>
        <p:nvSpPr>
          <p:cNvPr id="60" name="Rectangle 14">
            <a:extLst>
              <a:ext uri="{FF2B5EF4-FFF2-40B4-BE49-F238E27FC236}">
                <a16:creationId xmlns:a16="http://schemas.microsoft.com/office/drawing/2014/main" id="{8497C1C9-7988-468A-068B-7D1F696BF205}"/>
              </a:ext>
            </a:extLst>
          </p:cNvPr>
          <p:cNvSpPr/>
          <p:nvPr/>
        </p:nvSpPr>
        <p:spPr>
          <a:xfrm>
            <a:off x="8058190" y="8798412"/>
            <a:ext cx="1682600" cy="848171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rgbClr val="000000"/>
                </a:solidFill>
              </a:rPr>
              <a:t>MS </a:t>
            </a:r>
          </a:p>
          <a:p>
            <a:pPr algn="ctr"/>
            <a:r>
              <a:rPr lang="fr-FR" sz="1684" dirty="0">
                <a:solidFill>
                  <a:srgbClr val="000000"/>
                </a:solidFill>
              </a:rPr>
              <a:t>Référentiel Banque</a:t>
            </a:r>
          </a:p>
        </p:txBody>
      </p:sp>
      <p:pic>
        <p:nvPicPr>
          <p:cNvPr id="61" name="Image 60" descr="Microservice - Free electronics icons">
            <a:extLst>
              <a:ext uri="{FF2B5EF4-FFF2-40B4-BE49-F238E27FC236}">
                <a16:creationId xmlns:a16="http://schemas.microsoft.com/office/drawing/2014/main" id="{7EF220F8-0D28-1D95-F64A-7D6A63421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067" y="7869063"/>
            <a:ext cx="233530" cy="323083"/>
          </a:xfrm>
          <a:prstGeom prst="rect">
            <a:avLst/>
          </a:prstGeom>
        </p:spPr>
      </p:pic>
      <p:pic>
        <p:nvPicPr>
          <p:cNvPr id="62" name="Image 61" descr="Microservice - Free electronics icons">
            <a:extLst>
              <a:ext uri="{FF2B5EF4-FFF2-40B4-BE49-F238E27FC236}">
                <a16:creationId xmlns:a16="http://schemas.microsoft.com/office/drawing/2014/main" id="{E4C0FF57-B35E-FA81-A62C-6CC5B9204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152" y="8828117"/>
            <a:ext cx="233530" cy="323083"/>
          </a:xfrm>
          <a:prstGeom prst="rect">
            <a:avLst/>
          </a:prstGeom>
        </p:spPr>
      </p:pic>
      <p:pic>
        <p:nvPicPr>
          <p:cNvPr id="63" name="Image 62" descr="Microservice - Free electronics icons">
            <a:extLst>
              <a:ext uri="{FF2B5EF4-FFF2-40B4-BE49-F238E27FC236}">
                <a16:creationId xmlns:a16="http://schemas.microsoft.com/office/drawing/2014/main" id="{08E7E6FF-F280-35E2-591A-8D81418E9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664" y="8793450"/>
            <a:ext cx="233530" cy="323083"/>
          </a:xfrm>
          <a:prstGeom prst="rect">
            <a:avLst/>
          </a:prstGeom>
        </p:spPr>
      </p:pic>
      <p:pic>
        <p:nvPicPr>
          <p:cNvPr id="64" name="Image 63" descr="Microservice - Free electronics icons">
            <a:extLst>
              <a:ext uri="{FF2B5EF4-FFF2-40B4-BE49-F238E27FC236}">
                <a16:creationId xmlns:a16="http://schemas.microsoft.com/office/drawing/2014/main" id="{42D4ACDC-0CD3-3F6A-7EAB-4BFC594DC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663" y="7822310"/>
            <a:ext cx="233530" cy="323083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A1C0FE39-34E8-974D-BA8E-D36BA7834959}"/>
              </a:ext>
            </a:extLst>
          </p:cNvPr>
          <p:cNvSpPr/>
          <p:nvPr/>
        </p:nvSpPr>
        <p:spPr>
          <a:xfrm>
            <a:off x="6812280" y="2021626"/>
            <a:ext cx="3202504" cy="93988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2400" dirty="0">
                <a:solidFill>
                  <a:srgbClr val="000000"/>
                </a:solidFill>
              </a:rPr>
              <a:t>Systèmes externes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0FF86CA7-31BF-105C-CC72-EF48EC222E2B}"/>
              </a:ext>
            </a:extLst>
          </p:cNvPr>
          <p:cNvSpPr txBox="1"/>
          <p:nvPr/>
        </p:nvSpPr>
        <p:spPr>
          <a:xfrm>
            <a:off x="11438328" y="998408"/>
            <a:ext cx="7444559" cy="12403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Principes architecturaux</a:t>
            </a:r>
          </a:p>
          <a:p>
            <a:endParaRPr lang="fr-FR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La couche canaux regroupe : </a:t>
            </a:r>
          </a:p>
          <a:p>
            <a:pPr marL="742950" lvl="1" indent="-285750">
              <a:buFont typeface="Aptos" panose="020B0004020202020204" pitchFamily="34" charset="0"/>
              <a:buChar char="-"/>
            </a:pPr>
            <a:r>
              <a:rPr lang="fr-FR" dirty="0"/>
              <a:t>L’ (les) application(s) frontend (web/mobile),</a:t>
            </a:r>
          </a:p>
          <a:p>
            <a:pPr marL="742950" lvl="1" indent="-285750">
              <a:spcAft>
                <a:spcPts val="1200"/>
              </a:spcAft>
              <a:buFont typeface="Aptos" panose="020B0004020202020204" pitchFamily="34" charset="0"/>
              <a:buChar char="-"/>
            </a:pPr>
            <a:r>
              <a:rPr lang="fr-FR" dirty="0"/>
              <a:t>Les systèmes externes, pouvant être consommateurs et/ou fournisseurs de services via APIs ou via un accès contrôlé aux BD.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Tout accès aux services du système doit passer par une API Gateway afin d’assurer :</a:t>
            </a:r>
          </a:p>
          <a:p>
            <a:pPr marL="742950" lvl="1" indent="-285750">
              <a:spcAft>
                <a:spcPts val="600"/>
              </a:spcAft>
              <a:buFont typeface="Aptos" panose="020B0004020202020204" pitchFamily="34" charset="0"/>
              <a:buChar char="-"/>
            </a:pPr>
            <a:r>
              <a:rPr lang="fr-FR" dirty="0"/>
              <a:t>le routage, </a:t>
            </a:r>
          </a:p>
          <a:p>
            <a:pPr marL="742950" lvl="1" indent="-285750">
              <a:spcAft>
                <a:spcPts val="600"/>
              </a:spcAft>
              <a:buFont typeface="Aptos" panose="020B0004020202020204" pitchFamily="34" charset="0"/>
              <a:buChar char="-"/>
            </a:pPr>
            <a:r>
              <a:rPr lang="fr-FR" dirty="0"/>
              <a:t>la sécurisation des échanges, </a:t>
            </a:r>
          </a:p>
          <a:p>
            <a:pPr marL="742950" lvl="1" indent="-285750">
              <a:spcAft>
                <a:spcPts val="600"/>
              </a:spcAft>
              <a:buFont typeface="Aptos" panose="020B0004020202020204" pitchFamily="34" charset="0"/>
              <a:buChar char="-"/>
            </a:pPr>
            <a:r>
              <a:rPr lang="fr-FR" dirty="0"/>
              <a:t>le contrôle d’accès, </a:t>
            </a:r>
          </a:p>
          <a:p>
            <a:pPr marL="742950" lvl="1" indent="-285750">
              <a:spcAft>
                <a:spcPts val="1200"/>
              </a:spcAft>
              <a:buFont typeface="Aptos" panose="020B0004020202020204" pitchFamily="34" charset="0"/>
              <a:buChar char="-"/>
            </a:pPr>
            <a:r>
              <a:rPr lang="fr-FR" dirty="0"/>
              <a:t>la traçabilité et l’observabilité.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L’accès aux services nécessite une authentification et une autorisation via : un service d’authentification dédié, ou une plateforme IAM.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Lorsqu’un client nécessite l’agrégation de plusieurs services ou une adaptation des APIs au frontend, un service basé sur le pattern BFF (Backend For Frontend) est utilisé afin de :</a:t>
            </a:r>
          </a:p>
          <a:p>
            <a:pPr marL="742950" lvl="1" indent="-285750">
              <a:spcAft>
                <a:spcPts val="600"/>
              </a:spcAft>
              <a:buFont typeface="Aptos" panose="020B0004020202020204" pitchFamily="34" charset="0"/>
              <a:buChar char="-"/>
            </a:pPr>
            <a:r>
              <a:rPr lang="fr-FR" dirty="0"/>
              <a:t>centraliser les appels, </a:t>
            </a:r>
          </a:p>
          <a:p>
            <a:pPr marL="742950" lvl="1" indent="-285750">
              <a:spcAft>
                <a:spcPts val="600"/>
              </a:spcAft>
              <a:buFont typeface="Aptos" panose="020B0004020202020204" pitchFamily="34" charset="0"/>
              <a:buChar char="-"/>
            </a:pPr>
            <a:r>
              <a:rPr lang="fr-FR" dirty="0"/>
              <a:t>agréger les données, </a:t>
            </a:r>
          </a:p>
          <a:p>
            <a:pPr marL="742950" lvl="1" indent="-285750">
              <a:spcAft>
                <a:spcPts val="1200"/>
              </a:spcAft>
              <a:buFont typeface="Aptos" panose="020B0004020202020204" pitchFamily="34" charset="0"/>
              <a:buChar char="-"/>
            </a:pPr>
            <a:r>
              <a:rPr lang="fr-FR" dirty="0"/>
              <a:t>simplifier les échanges avec le frontend.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Lorsqu’un processus métier complexe implique plusieurs services avec des flux, conditions et mécanismes de compensation, un orchestrateur basé sur un moteur de workflow est utilisé selon le pattern Saga Pattern.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La couche Services contient : </a:t>
            </a:r>
          </a:p>
          <a:p>
            <a:pPr marL="742950" lvl="1" indent="-285750">
              <a:spcAft>
                <a:spcPts val="600"/>
              </a:spcAft>
              <a:buFont typeface="Aptos" panose="020B0004020202020204" pitchFamily="34" charset="0"/>
              <a:buChar char="-"/>
            </a:pPr>
            <a:r>
              <a:rPr lang="fr-FR" dirty="0"/>
              <a:t>des services métiers, </a:t>
            </a:r>
          </a:p>
          <a:p>
            <a:pPr marL="742950" lvl="1" indent="-285750">
              <a:spcAft>
                <a:spcPts val="600"/>
              </a:spcAft>
              <a:buFont typeface="Aptos" panose="020B0004020202020204" pitchFamily="34" charset="0"/>
              <a:buChar char="-"/>
            </a:pPr>
            <a:r>
              <a:rPr lang="fr-FR" dirty="0"/>
              <a:t>des services référentiels, </a:t>
            </a:r>
          </a:p>
          <a:p>
            <a:pPr marL="742950" lvl="1" indent="-285750">
              <a:spcAft>
                <a:spcPts val="1200"/>
              </a:spcAft>
              <a:buFont typeface="Aptos" panose="020B0004020202020204" pitchFamily="34" charset="0"/>
              <a:buChar char="-"/>
            </a:pPr>
            <a:r>
              <a:rPr lang="fr-FR" dirty="0"/>
              <a:t>des services transverses.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Chaque </a:t>
            </a:r>
            <a:r>
              <a:rPr lang="fr-FR" sz="2000" dirty="0" err="1"/>
              <a:t>microservice</a:t>
            </a:r>
            <a:r>
              <a:rPr lang="fr-FR" sz="2000" dirty="0"/>
              <a:t> dispose de son propre user de base de données conformément au principe de découplage des </a:t>
            </a:r>
            <a:r>
              <a:rPr lang="fr-FR" sz="2000" dirty="0" err="1"/>
              <a:t>microservices</a:t>
            </a:r>
            <a:r>
              <a:rPr lang="fr-FR" sz="2000" dirty="0"/>
              <a:t>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Une couche transverse de supervision et d’observabilité permet d’assurer : le monitoring, le </a:t>
            </a:r>
            <a:r>
              <a:rPr lang="fr-FR" sz="2000" dirty="0" err="1"/>
              <a:t>logging</a:t>
            </a:r>
            <a:r>
              <a:rPr lang="fr-FR" sz="2000" dirty="0"/>
              <a:t> centralisé, la traçabilité distribuée, l’audit, et le suivi des performances et incidents.</a:t>
            </a:r>
          </a:p>
        </p:txBody>
      </p:sp>
      <p:pic>
        <p:nvPicPr>
          <p:cNvPr id="67" name="Image 66" descr="Microservice - Free electronics icons">
            <a:extLst>
              <a:ext uri="{FF2B5EF4-FFF2-40B4-BE49-F238E27FC236}">
                <a16:creationId xmlns:a16="http://schemas.microsoft.com/office/drawing/2014/main" id="{BB159812-CB3E-2395-3562-39E991A97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653" y="4783373"/>
            <a:ext cx="233530" cy="323083"/>
          </a:xfrm>
          <a:prstGeom prst="rect">
            <a:avLst/>
          </a:prstGeom>
        </p:spPr>
      </p:pic>
      <p:pic>
        <p:nvPicPr>
          <p:cNvPr id="68" name="Image 67" descr="Microservice - Free electronics icons">
            <a:extLst>
              <a:ext uri="{FF2B5EF4-FFF2-40B4-BE49-F238E27FC236}">
                <a16:creationId xmlns:a16="http://schemas.microsoft.com/office/drawing/2014/main" id="{535FDE09-5605-60FD-7CA0-3790F1A45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73" y="5954677"/>
            <a:ext cx="233530" cy="323083"/>
          </a:xfrm>
          <a:prstGeom prst="rect">
            <a:avLst/>
          </a:prstGeom>
        </p:spPr>
      </p:pic>
      <p:sp>
        <p:nvSpPr>
          <p:cNvPr id="70" name="ZoneTexte 69">
            <a:extLst>
              <a:ext uri="{FF2B5EF4-FFF2-40B4-BE49-F238E27FC236}">
                <a16:creationId xmlns:a16="http://schemas.microsoft.com/office/drawing/2014/main" id="{F3C69E7D-A67D-F1BD-3535-95757983B71C}"/>
              </a:ext>
            </a:extLst>
          </p:cNvPr>
          <p:cNvSpPr txBox="1"/>
          <p:nvPr/>
        </p:nvSpPr>
        <p:spPr>
          <a:xfrm>
            <a:off x="895331" y="513543"/>
            <a:ext cx="9601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/>
              <a:t>Architecture multi-</a:t>
            </a:r>
            <a:r>
              <a:rPr lang="fr-FR" sz="3200" b="1" dirty="0" err="1"/>
              <a:t>layers</a:t>
            </a:r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2013755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CAB4-C988-C98B-82FA-042D6A89E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8">
            <a:extLst>
              <a:ext uri="{FF2B5EF4-FFF2-40B4-BE49-F238E27FC236}">
                <a16:creationId xmlns:a16="http://schemas.microsoft.com/office/drawing/2014/main" id="{2CC1E6BB-41A0-1C45-F877-3DEA962D6D55}"/>
              </a:ext>
            </a:extLst>
          </p:cNvPr>
          <p:cNvSpPr/>
          <p:nvPr/>
        </p:nvSpPr>
        <p:spPr>
          <a:xfrm>
            <a:off x="9725185" y="6590553"/>
            <a:ext cx="2335114" cy="3288632"/>
          </a:xfrm>
          <a:prstGeom prst="roundRect">
            <a:avLst>
              <a:gd name="adj" fmla="val 6368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84"/>
          </a:p>
        </p:txBody>
      </p:sp>
      <p:sp>
        <p:nvSpPr>
          <p:cNvPr id="18" name="Rectangle 28">
            <a:extLst>
              <a:ext uri="{FF2B5EF4-FFF2-40B4-BE49-F238E27FC236}">
                <a16:creationId xmlns:a16="http://schemas.microsoft.com/office/drawing/2014/main" id="{42E9CEA6-B1F4-96ED-75A6-E76838503BD4}"/>
              </a:ext>
            </a:extLst>
          </p:cNvPr>
          <p:cNvSpPr/>
          <p:nvPr/>
        </p:nvSpPr>
        <p:spPr>
          <a:xfrm>
            <a:off x="12131598" y="6586917"/>
            <a:ext cx="2335114" cy="3292267"/>
          </a:xfrm>
          <a:prstGeom prst="roundRect">
            <a:avLst>
              <a:gd name="adj" fmla="val 6362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84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89D868-49D5-2BEE-34D2-5151F0DBFCE9}"/>
              </a:ext>
            </a:extLst>
          </p:cNvPr>
          <p:cNvSpPr/>
          <p:nvPr/>
        </p:nvSpPr>
        <p:spPr>
          <a:xfrm>
            <a:off x="5151123" y="6586921"/>
            <a:ext cx="4456784" cy="3292262"/>
          </a:xfrm>
          <a:prstGeom prst="roundRect">
            <a:avLst>
              <a:gd name="adj" fmla="val 8529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84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F43F3F-26D6-26D0-E31E-AFD97F0ABED5}"/>
              </a:ext>
            </a:extLst>
          </p:cNvPr>
          <p:cNvSpPr/>
          <p:nvPr/>
        </p:nvSpPr>
        <p:spPr>
          <a:xfrm>
            <a:off x="12263256" y="7071300"/>
            <a:ext cx="2062860" cy="850621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rgbClr val="000000"/>
                </a:solidFill>
              </a:rPr>
              <a:t>MS </a:t>
            </a:r>
          </a:p>
          <a:p>
            <a:pPr algn="ctr"/>
            <a:r>
              <a:rPr lang="fr-FR" sz="1684" dirty="0">
                <a:solidFill>
                  <a:srgbClr val="000000"/>
                </a:solidFill>
              </a:rPr>
              <a:t>Référentiel Métier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9CBDC4-5C8C-4401-AE4D-48534EFC6EA2}"/>
              </a:ext>
            </a:extLst>
          </p:cNvPr>
          <p:cNvSpPr/>
          <p:nvPr/>
        </p:nvSpPr>
        <p:spPr>
          <a:xfrm>
            <a:off x="8449148" y="1997673"/>
            <a:ext cx="2441147" cy="879755"/>
          </a:xfrm>
          <a:prstGeom prst="rect">
            <a:avLst/>
          </a:prstGeom>
          <a:solidFill>
            <a:srgbClr val="E2F5DB"/>
          </a:solidFill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chemeClr val="tx1"/>
                </a:solidFill>
              </a:rPr>
              <a:t>Frontend</a:t>
            </a:r>
          </a:p>
          <a:p>
            <a:pPr algn="ctr"/>
            <a:r>
              <a:rPr lang="fr-FR" sz="1684" dirty="0">
                <a:solidFill>
                  <a:schemeClr val="tx1"/>
                </a:solidFill>
              </a:rPr>
              <a:t>Web</a:t>
            </a:r>
          </a:p>
        </p:txBody>
      </p:sp>
      <p:pic>
        <p:nvPicPr>
          <p:cNvPr id="20" name="Image 19" descr="angular logo • Tc-Web">
            <a:extLst>
              <a:ext uri="{FF2B5EF4-FFF2-40B4-BE49-F238E27FC236}">
                <a16:creationId xmlns:a16="http://schemas.microsoft.com/office/drawing/2014/main" id="{85AB87A5-D111-3FA0-2FD7-6ED44A496A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58" t="10602" r="12921" b="9686"/>
          <a:stretch>
            <a:fillRect/>
          </a:stretch>
        </p:blipFill>
        <p:spPr>
          <a:xfrm>
            <a:off x="10965631" y="2224971"/>
            <a:ext cx="318479" cy="32796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CB8E3D0-4F2D-EDC5-E87E-133DF53FEFD4}"/>
              </a:ext>
            </a:extLst>
          </p:cNvPr>
          <p:cNvSpPr/>
          <p:nvPr/>
        </p:nvSpPr>
        <p:spPr>
          <a:xfrm>
            <a:off x="12262406" y="8054932"/>
            <a:ext cx="2087029" cy="848171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rgbClr val="000000"/>
                </a:solidFill>
              </a:rPr>
              <a:t>MS </a:t>
            </a:r>
          </a:p>
          <a:p>
            <a:pPr algn="ctr"/>
            <a:r>
              <a:rPr lang="fr-FR" sz="1684" dirty="0">
                <a:solidFill>
                  <a:srgbClr val="000000"/>
                </a:solidFill>
              </a:rPr>
              <a:t>Référentiel Banque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C5BDB3-1A0E-A4A4-230E-A88A3DAE6DB4}"/>
              </a:ext>
            </a:extLst>
          </p:cNvPr>
          <p:cNvSpPr/>
          <p:nvPr/>
        </p:nvSpPr>
        <p:spPr>
          <a:xfrm>
            <a:off x="5384807" y="6867222"/>
            <a:ext cx="1914724" cy="850621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rgbClr val="000000"/>
                </a:solidFill>
              </a:rPr>
              <a:t>MS </a:t>
            </a:r>
          </a:p>
          <a:p>
            <a:pPr algn="ctr"/>
            <a:r>
              <a:rPr lang="fr-FR" sz="1684" dirty="0">
                <a:solidFill>
                  <a:srgbClr val="000000"/>
                </a:solidFill>
              </a:rPr>
              <a:t>Mailing &amp; Notifications</a:t>
            </a:r>
            <a:endParaRPr lang="fr-FR" sz="1684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20FDFB9-A34F-03D1-C9CA-8C620AA3234E}"/>
              </a:ext>
            </a:extLst>
          </p:cNvPr>
          <p:cNvSpPr/>
          <p:nvPr/>
        </p:nvSpPr>
        <p:spPr>
          <a:xfrm>
            <a:off x="5170642" y="5045917"/>
            <a:ext cx="6281835" cy="59069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chemeClr val="tx1"/>
                </a:solidFill>
              </a:rPr>
              <a:t>API Gateway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663F632-088F-27D8-6FE3-723B812CC2C8}"/>
              </a:ext>
            </a:extLst>
          </p:cNvPr>
          <p:cNvSpPr/>
          <p:nvPr/>
        </p:nvSpPr>
        <p:spPr>
          <a:xfrm>
            <a:off x="15663025" y="4881601"/>
            <a:ext cx="1549674" cy="1188083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chemeClr val="tx1"/>
                </a:solidFill>
              </a:rPr>
              <a:t>Services Monitoring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C34F1EF-B5FF-CEC1-1AE2-D4CAEA6D1AF3}"/>
              </a:ext>
            </a:extLst>
          </p:cNvPr>
          <p:cNvSpPr/>
          <p:nvPr/>
        </p:nvSpPr>
        <p:spPr>
          <a:xfrm>
            <a:off x="8870205" y="3717790"/>
            <a:ext cx="2669461" cy="59069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 err="1">
                <a:solidFill>
                  <a:schemeClr val="tx1"/>
                </a:solidFill>
              </a:rPr>
              <a:t>Load</a:t>
            </a:r>
            <a:r>
              <a:rPr lang="fr-FR" sz="1684" dirty="0">
                <a:solidFill>
                  <a:schemeClr val="tx1"/>
                </a:solidFill>
              </a:rPr>
              <a:t> balancer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9F7AF9-B60E-836E-52DE-5E5E05B59796}"/>
              </a:ext>
            </a:extLst>
          </p:cNvPr>
          <p:cNvSpPr/>
          <p:nvPr/>
        </p:nvSpPr>
        <p:spPr>
          <a:xfrm>
            <a:off x="2514600" y="6122557"/>
            <a:ext cx="12127705" cy="3927213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84"/>
          </a:p>
        </p:txBody>
      </p:sp>
      <p:pic>
        <p:nvPicPr>
          <p:cNvPr id="11" name="Image 10" descr="Apache-kafka icon. Free download transparent .PNG | Creazilla">
            <a:extLst>
              <a:ext uri="{FF2B5EF4-FFF2-40B4-BE49-F238E27FC236}">
                <a16:creationId xmlns:a16="http://schemas.microsoft.com/office/drawing/2014/main" id="{CAA27393-EB65-819D-1ABA-CF6A9FD91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871" y="11054303"/>
            <a:ext cx="423954" cy="423954"/>
          </a:xfrm>
          <a:prstGeom prst="rect">
            <a:avLst/>
          </a:prstGeom>
        </p:spPr>
      </p:pic>
      <p:pic>
        <p:nvPicPr>
          <p:cNvPr id="13" name="Image 12" descr="Oracle Logo y símbolo, significado, historia, PNG, marca">
            <a:extLst>
              <a:ext uri="{FF2B5EF4-FFF2-40B4-BE49-F238E27FC236}">
                <a16:creationId xmlns:a16="http://schemas.microsoft.com/office/drawing/2014/main" id="{983BB5F6-FF4E-35B3-0CDF-38251F171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129" y="12734878"/>
            <a:ext cx="769879" cy="611603"/>
          </a:xfrm>
          <a:prstGeom prst="rect">
            <a:avLst/>
          </a:prstGeom>
        </p:spPr>
      </p:pic>
      <p:pic>
        <p:nvPicPr>
          <p:cNvPr id="14" name="Image 13" descr="Une image contenant capture d’écran, Graphique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CF8AB55E-1FCD-5577-C238-09C3F65B19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383" t="2663" r="25422" b="787"/>
          <a:stretch>
            <a:fillRect/>
          </a:stretch>
        </p:blipFill>
        <p:spPr>
          <a:xfrm>
            <a:off x="8798221" y="10048461"/>
            <a:ext cx="2127466" cy="1419820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079FC91D-4499-9355-CD63-65BE994E9732}"/>
              </a:ext>
            </a:extLst>
          </p:cNvPr>
          <p:cNvSpPr txBox="1"/>
          <p:nvPr/>
        </p:nvSpPr>
        <p:spPr>
          <a:xfrm>
            <a:off x="6003115" y="6548885"/>
            <a:ext cx="2566841" cy="3455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5561" tIns="42781" rIns="85561" bIns="427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600" i="1" dirty="0">
                <a:solidFill>
                  <a:srgbClr val="3F3F3F"/>
                </a:solidFill>
              </a:rPr>
              <a:t>Services Transverses</a:t>
            </a:r>
            <a:endParaRPr lang="fr-FR" sz="1600" i="1" dirty="0"/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38DB4EFF-D129-A92B-9630-7458485C5681}"/>
              </a:ext>
            </a:extLst>
          </p:cNvPr>
          <p:cNvGrpSpPr/>
          <p:nvPr/>
        </p:nvGrpSpPr>
        <p:grpSpPr>
          <a:xfrm>
            <a:off x="7405151" y="7838646"/>
            <a:ext cx="1982381" cy="854021"/>
            <a:chOff x="1356215" y="8649157"/>
            <a:chExt cx="1982381" cy="85402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DFAFD8E-FA5E-E3B5-D12C-50FA2E87656C}"/>
                </a:ext>
              </a:extLst>
            </p:cNvPr>
            <p:cNvSpPr/>
            <p:nvPr/>
          </p:nvSpPr>
          <p:spPr>
            <a:xfrm>
              <a:off x="1356215" y="8649157"/>
              <a:ext cx="1982381" cy="854021"/>
            </a:xfrm>
            <a:prstGeom prst="roundRect">
              <a:avLst/>
            </a:prstGeom>
            <a:solidFill>
              <a:srgbClr val="F5F9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5561" tIns="42781" rIns="85561" bIns="42781" rtlCol="0" anchor="ctr"/>
            <a:lstStyle/>
            <a:p>
              <a:pPr algn="ctr"/>
              <a:r>
                <a:rPr lang="fr-FR" sz="1684" dirty="0">
                  <a:solidFill>
                    <a:srgbClr val="000000"/>
                  </a:solidFill>
                </a:rPr>
                <a:t>MS RECOM  </a:t>
              </a:r>
              <a:r>
                <a:rPr lang="fr-FR" sz="1310" dirty="0" err="1">
                  <a:solidFill>
                    <a:srgbClr val="000000"/>
                  </a:solidFill>
                </a:rPr>
                <a:t>Reporting</a:t>
              </a:r>
              <a:r>
                <a:rPr lang="fr-FR" sz="1310" dirty="0">
                  <a:solidFill>
                    <a:srgbClr val="000000"/>
                  </a:solidFill>
                </a:rPr>
                <a:t> Interne &amp; Commissionnement</a:t>
              </a:r>
              <a:endParaRPr lang="fr-FR" sz="1684" dirty="0">
                <a:solidFill>
                  <a:srgbClr val="000000"/>
                </a:solidFill>
              </a:endParaRPr>
            </a:p>
          </p:txBody>
        </p:sp>
        <p:pic>
          <p:nvPicPr>
            <p:cNvPr id="38" name="Image 37" descr="Microservice - Free electronics icons">
              <a:extLst>
                <a:ext uri="{FF2B5EF4-FFF2-40B4-BE49-F238E27FC236}">
                  <a16:creationId xmlns:a16="http://schemas.microsoft.com/office/drawing/2014/main" id="{69081369-2CD0-841A-CA1D-C05F6D6DB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85766" y="8670692"/>
              <a:ext cx="289661" cy="323083"/>
            </a:xfrm>
            <a:prstGeom prst="rect">
              <a:avLst/>
            </a:prstGeom>
          </p:spPr>
        </p:pic>
      </p:grpSp>
      <p:pic>
        <p:nvPicPr>
          <p:cNvPr id="41" name="Image 40" descr="Microservice - Free electronics icons">
            <a:extLst>
              <a:ext uri="{FF2B5EF4-FFF2-40B4-BE49-F238E27FC236}">
                <a16:creationId xmlns:a16="http://schemas.microsoft.com/office/drawing/2014/main" id="{1A824E9D-7D87-D7DA-2EF3-F0D2CD11EB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9732" y="6869281"/>
            <a:ext cx="289661" cy="323083"/>
          </a:xfrm>
          <a:prstGeom prst="rect">
            <a:avLst/>
          </a:prstGeom>
        </p:spPr>
      </p:pic>
      <p:grpSp>
        <p:nvGrpSpPr>
          <p:cNvPr id="33" name="Groupe 32">
            <a:extLst>
              <a:ext uri="{FF2B5EF4-FFF2-40B4-BE49-F238E27FC236}">
                <a16:creationId xmlns:a16="http://schemas.microsoft.com/office/drawing/2014/main" id="{08857A57-BCBE-0B85-9454-9F758C65105C}"/>
              </a:ext>
            </a:extLst>
          </p:cNvPr>
          <p:cNvGrpSpPr/>
          <p:nvPr/>
        </p:nvGrpSpPr>
        <p:grpSpPr>
          <a:xfrm>
            <a:off x="7428309" y="6866669"/>
            <a:ext cx="1982379" cy="856572"/>
            <a:chOff x="1352908" y="9624569"/>
            <a:chExt cx="1982379" cy="85657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CEB0604-BE1D-2FCD-66BA-01390D30DFB6}"/>
                </a:ext>
              </a:extLst>
            </p:cNvPr>
            <p:cNvSpPr/>
            <p:nvPr/>
          </p:nvSpPr>
          <p:spPr>
            <a:xfrm>
              <a:off x="1352908" y="9624569"/>
              <a:ext cx="1982379" cy="856572"/>
            </a:xfrm>
            <a:prstGeom prst="roundRect">
              <a:avLst/>
            </a:prstGeom>
            <a:solidFill>
              <a:srgbClr val="F5F9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5561" tIns="42781" rIns="85561" bIns="42781" rtlCol="0" anchor="ctr"/>
            <a:lstStyle/>
            <a:p>
              <a:pPr algn="ctr"/>
              <a:r>
                <a:rPr lang="fr-FR" sz="1684" dirty="0">
                  <a:solidFill>
                    <a:srgbClr val="000000"/>
                  </a:solidFill>
                </a:rPr>
                <a:t>MS ÉDITIQUE</a:t>
              </a:r>
            </a:p>
          </p:txBody>
        </p:sp>
        <p:pic>
          <p:nvPicPr>
            <p:cNvPr id="43" name="Image 42" descr="Microservice - Free electronics icons">
              <a:extLst>
                <a:ext uri="{FF2B5EF4-FFF2-40B4-BE49-F238E27FC236}">
                  <a16:creationId xmlns:a16="http://schemas.microsoft.com/office/drawing/2014/main" id="{C7F2AD35-23FF-F0C3-F861-E87EB0C73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85767" y="9641831"/>
              <a:ext cx="289661" cy="323083"/>
            </a:xfrm>
            <a:prstGeom prst="rect">
              <a:avLst/>
            </a:prstGeom>
          </p:spPr>
        </p:pic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A56FC268-C4D5-3B80-D543-05F6715DBC2D}"/>
              </a:ext>
            </a:extLst>
          </p:cNvPr>
          <p:cNvGrpSpPr/>
          <p:nvPr/>
        </p:nvGrpSpPr>
        <p:grpSpPr>
          <a:xfrm>
            <a:off x="7434686" y="8837337"/>
            <a:ext cx="1963063" cy="850621"/>
            <a:chOff x="1141296" y="7237090"/>
            <a:chExt cx="1963063" cy="85062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2507FD3-7D2C-6946-2529-2BC3B542DB2F}"/>
                </a:ext>
              </a:extLst>
            </p:cNvPr>
            <p:cNvSpPr/>
            <p:nvPr/>
          </p:nvSpPr>
          <p:spPr>
            <a:xfrm>
              <a:off x="1141296" y="7237090"/>
              <a:ext cx="1963063" cy="850621"/>
            </a:xfrm>
            <a:prstGeom prst="roundRect">
              <a:avLst/>
            </a:prstGeom>
            <a:solidFill>
              <a:srgbClr val="F5F9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5561" tIns="42781" rIns="85561" bIns="42781" rtlCol="0" anchor="ctr"/>
            <a:lstStyle/>
            <a:p>
              <a:pPr algn="ctr"/>
              <a:r>
                <a:rPr lang="fr-FR" sz="1684" dirty="0">
                  <a:solidFill>
                    <a:srgbClr val="000000"/>
                  </a:solidFill>
                </a:rPr>
                <a:t>MS </a:t>
              </a:r>
            </a:p>
            <a:p>
              <a:pPr algn="ctr"/>
              <a:r>
                <a:rPr lang="fr-FR" sz="1684" dirty="0">
                  <a:solidFill>
                    <a:srgbClr val="000000"/>
                  </a:solidFill>
                </a:rPr>
                <a:t>MS REPORTING </a:t>
              </a:r>
              <a:r>
                <a:rPr lang="fr-FR" sz="1123" dirty="0">
                  <a:solidFill>
                    <a:srgbClr val="000000"/>
                  </a:solidFill>
                </a:rPr>
                <a:t>Centrale des Engagements</a:t>
              </a:r>
              <a:endParaRPr lang="fr-FR" sz="1684" dirty="0"/>
            </a:p>
          </p:txBody>
        </p:sp>
        <p:pic>
          <p:nvPicPr>
            <p:cNvPr id="46" name="Image 45" descr="Microservice - Free electronics icons">
              <a:extLst>
                <a:ext uri="{FF2B5EF4-FFF2-40B4-BE49-F238E27FC236}">
                  <a16:creationId xmlns:a16="http://schemas.microsoft.com/office/drawing/2014/main" id="{D17609DB-96AF-1262-69FC-DAE1D8CAE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31167" y="7274972"/>
              <a:ext cx="289661" cy="323083"/>
            </a:xfrm>
            <a:prstGeom prst="rect">
              <a:avLst/>
            </a:prstGeom>
          </p:spPr>
        </p:pic>
      </p:grpSp>
      <p:sp>
        <p:nvSpPr>
          <p:cNvPr id="50" name="ZoneTexte 49">
            <a:extLst>
              <a:ext uri="{FF2B5EF4-FFF2-40B4-BE49-F238E27FC236}">
                <a16:creationId xmlns:a16="http://schemas.microsoft.com/office/drawing/2014/main" id="{8732A57F-8BC3-EB5C-6093-AC27A7E222D1}"/>
              </a:ext>
            </a:extLst>
          </p:cNvPr>
          <p:cNvSpPr txBox="1"/>
          <p:nvPr/>
        </p:nvSpPr>
        <p:spPr>
          <a:xfrm>
            <a:off x="8808701" y="11055009"/>
            <a:ext cx="2114304" cy="3455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5561" tIns="42781" rIns="85561" bIns="427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684" dirty="0">
                <a:solidFill>
                  <a:srgbClr val="3F3F3F"/>
                </a:solidFill>
              </a:rPr>
              <a:t>Message Broker</a:t>
            </a:r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55064107-E26E-ED8B-9F5E-B0D18A1F58BA}"/>
              </a:ext>
            </a:extLst>
          </p:cNvPr>
          <p:cNvCxnSpPr>
            <a:cxnSpLocks/>
          </p:cNvCxnSpPr>
          <p:nvPr/>
        </p:nvCxnSpPr>
        <p:spPr>
          <a:xfrm>
            <a:off x="9111486" y="5638389"/>
            <a:ext cx="0" cy="46413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AA4228DE-90BB-FD6F-C9CA-C0FA8B9F3DC4}"/>
              </a:ext>
            </a:extLst>
          </p:cNvPr>
          <p:cNvCxnSpPr>
            <a:cxnSpLocks/>
          </p:cNvCxnSpPr>
          <p:nvPr/>
        </p:nvCxnSpPr>
        <p:spPr>
          <a:xfrm>
            <a:off x="10388756" y="2903557"/>
            <a:ext cx="0" cy="79821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ylindre 56">
            <a:extLst>
              <a:ext uri="{FF2B5EF4-FFF2-40B4-BE49-F238E27FC236}">
                <a16:creationId xmlns:a16="http://schemas.microsoft.com/office/drawing/2014/main" id="{359A30B2-9315-76F1-131A-72B3114504E5}"/>
              </a:ext>
            </a:extLst>
          </p:cNvPr>
          <p:cNvSpPr/>
          <p:nvPr/>
        </p:nvSpPr>
        <p:spPr>
          <a:xfrm>
            <a:off x="7754534" y="11921964"/>
            <a:ext cx="552650" cy="613075"/>
          </a:xfrm>
          <a:prstGeom prst="can">
            <a:avLst/>
          </a:prstGeom>
          <a:solidFill>
            <a:srgbClr val="BF9A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84"/>
          </a:p>
        </p:txBody>
      </p:sp>
      <p:sp>
        <p:nvSpPr>
          <p:cNvPr id="59" name="Cylindre 58">
            <a:extLst>
              <a:ext uri="{FF2B5EF4-FFF2-40B4-BE49-F238E27FC236}">
                <a16:creationId xmlns:a16="http://schemas.microsoft.com/office/drawing/2014/main" id="{F3543DF7-670E-A4D0-09E9-565638901820}"/>
              </a:ext>
            </a:extLst>
          </p:cNvPr>
          <p:cNvSpPr/>
          <p:nvPr/>
        </p:nvSpPr>
        <p:spPr>
          <a:xfrm>
            <a:off x="8995255" y="11921963"/>
            <a:ext cx="552650" cy="613075"/>
          </a:xfrm>
          <a:prstGeom prst="can">
            <a:avLst/>
          </a:prstGeom>
          <a:solidFill>
            <a:srgbClr val="BF9A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84"/>
          </a:p>
        </p:txBody>
      </p:sp>
      <p:sp>
        <p:nvSpPr>
          <p:cNvPr id="60" name="Cylindre 59">
            <a:extLst>
              <a:ext uri="{FF2B5EF4-FFF2-40B4-BE49-F238E27FC236}">
                <a16:creationId xmlns:a16="http://schemas.microsoft.com/office/drawing/2014/main" id="{5A008EC3-5B1F-BD46-516C-875D63AC0CAB}"/>
              </a:ext>
            </a:extLst>
          </p:cNvPr>
          <p:cNvSpPr/>
          <p:nvPr/>
        </p:nvSpPr>
        <p:spPr>
          <a:xfrm>
            <a:off x="10235976" y="11921963"/>
            <a:ext cx="552650" cy="613075"/>
          </a:xfrm>
          <a:prstGeom prst="can">
            <a:avLst/>
          </a:prstGeom>
          <a:solidFill>
            <a:srgbClr val="BF9A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84"/>
          </a:p>
        </p:txBody>
      </p:sp>
      <p:sp>
        <p:nvSpPr>
          <p:cNvPr id="61" name="Cylindre 60">
            <a:extLst>
              <a:ext uri="{FF2B5EF4-FFF2-40B4-BE49-F238E27FC236}">
                <a16:creationId xmlns:a16="http://schemas.microsoft.com/office/drawing/2014/main" id="{E983F0BF-D9D6-FE07-FE6B-55028F19BB00}"/>
              </a:ext>
            </a:extLst>
          </p:cNvPr>
          <p:cNvSpPr/>
          <p:nvPr/>
        </p:nvSpPr>
        <p:spPr>
          <a:xfrm>
            <a:off x="11476697" y="11921964"/>
            <a:ext cx="552650" cy="613075"/>
          </a:xfrm>
          <a:prstGeom prst="can">
            <a:avLst/>
          </a:prstGeom>
          <a:solidFill>
            <a:srgbClr val="BF9A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84"/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86C7F5EF-E286-1B7E-1217-B9B5EE355B8B}"/>
              </a:ext>
            </a:extLst>
          </p:cNvPr>
          <p:cNvSpPr txBox="1"/>
          <p:nvPr/>
        </p:nvSpPr>
        <p:spPr>
          <a:xfrm>
            <a:off x="8909912" y="12841164"/>
            <a:ext cx="2114304" cy="3455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5561" tIns="42781" rIns="85561" bIns="427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684" dirty="0" err="1">
                <a:solidFill>
                  <a:srgbClr val="3F3F3F"/>
                </a:solidFill>
              </a:rPr>
              <a:t>Database</a:t>
            </a:r>
            <a:r>
              <a:rPr lang="fr-FR" sz="1684" dirty="0">
                <a:solidFill>
                  <a:srgbClr val="3F3F3F"/>
                </a:solidFill>
              </a:rPr>
              <a:t> </a:t>
            </a:r>
            <a:r>
              <a:rPr lang="fr-FR" sz="1684" dirty="0" err="1">
                <a:solidFill>
                  <a:srgbClr val="3F3F3F"/>
                </a:solidFill>
              </a:rPr>
              <a:t>users</a:t>
            </a:r>
          </a:p>
        </p:txBody>
      </p:sp>
      <p:cxnSp>
        <p:nvCxnSpPr>
          <p:cNvPr id="64" name="Connecteur droit avec flèche 63">
            <a:extLst>
              <a:ext uri="{FF2B5EF4-FFF2-40B4-BE49-F238E27FC236}">
                <a16:creationId xmlns:a16="http://schemas.microsoft.com/office/drawing/2014/main" id="{DE3A4AFB-3AEA-9487-3D70-C56BE5477E6C}"/>
              </a:ext>
            </a:extLst>
          </p:cNvPr>
          <p:cNvCxnSpPr>
            <a:cxnSpLocks/>
          </p:cNvCxnSpPr>
          <p:nvPr/>
        </p:nvCxnSpPr>
        <p:spPr>
          <a:xfrm>
            <a:off x="10111628" y="4316206"/>
            <a:ext cx="3021" cy="73581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0CA52347-711B-15F7-6AF0-F15F638A0FC5}"/>
              </a:ext>
            </a:extLst>
          </p:cNvPr>
          <p:cNvCxnSpPr>
            <a:cxnSpLocks/>
          </p:cNvCxnSpPr>
          <p:nvPr/>
        </p:nvCxnSpPr>
        <p:spPr>
          <a:xfrm flipH="1" flipV="1">
            <a:off x="14633201" y="7200681"/>
            <a:ext cx="67807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071AC103-A490-056C-5A6E-E16074EC7F6F}"/>
              </a:ext>
            </a:extLst>
          </p:cNvPr>
          <p:cNvCxnSpPr>
            <a:cxnSpLocks/>
          </p:cNvCxnSpPr>
          <p:nvPr/>
        </p:nvCxnSpPr>
        <p:spPr>
          <a:xfrm>
            <a:off x="11728710" y="10052155"/>
            <a:ext cx="0" cy="166464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BE43EF37-2D30-83BA-DB17-E1376298E5E0}"/>
              </a:ext>
            </a:extLst>
          </p:cNvPr>
          <p:cNvCxnSpPr>
            <a:cxnSpLocks/>
          </p:cNvCxnSpPr>
          <p:nvPr/>
        </p:nvCxnSpPr>
        <p:spPr>
          <a:xfrm>
            <a:off x="7815605" y="10034330"/>
            <a:ext cx="0" cy="168247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68C5EAA2-AA29-C9AC-7AA3-548C9E72367C}"/>
              </a:ext>
            </a:extLst>
          </p:cNvPr>
          <p:cNvCxnSpPr>
            <a:cxnSpLocks/>
          </p:cNvCxnSpPr>
          <p:nvPr/>
        </p:nvCxnSpPr>
        <p:spPr>
          <a:xfrm>
            <a:off x="8414870" y="10087806"/>
            <a:ext cx="0" cy="69671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0F7CC08D-0F80-F53E-378C-37FD2FE63709}"/>
              </a:ext>
            </a:extLst>
          </p:cNvPr>
          <p:cNvCxnSpPr/>
          <p:nvPr/>
        </p:nvCxnSpPr>
        <p:spPr>
          <a:xfrm flipV="1">
            <a:off x="8418191" y="10777140"/>
            <a:ext cx="4349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B47B3C3E-D2E5-A42D-9982-66DFB7BA81F5}"/>
              </a:ext>
            </a:extLst>
          </p:cNvPr>
          <p:cNvCxnSpPr>
            <a:cxnSpLocks/>
          </p:cNvCxnSpPr>
          <p:nvPr/>
        </p:nvCxnSpPr>
        <p:spPr>
          <a:xfrm flipV="1">
            <a:off x="10860193" y="10811706"/>
            <a:ext cx="353484" cy="19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7C1F24CF-E7FD-BFBC-3160-37BA09E3F1D4}"/>
              </a:ext>
            </a:extLst>
          </p:cNvPr>
          <p:cNvCxnSpPr>
            <a:cxnSpLocks/>
          </p:cNvCxnSpPr>
          <p:nvPr/>
        </p:nvCxnSpPr>
        <p:spPr>
          <a:xfrm flipV="1">
            <a:off x="11212650" y="10052155"/>
            <a:ext cx="0" cy="759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E3A3CD1D-DE7F-232A-2445-6C7F7C9C56C7}"/>
              </a:ext>
            </a:extLst>
          </p:cNvPr>
          <p:cNvSpPr/>
          <p:nvPr/>
        </p:nvSpPr>
        <p:spPr>
          <a:xfrm>
            <a:off x="15663024" y="6205129"/>
            <a:ext cx="1549674" cy="1188083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chemeClr val="tx1"/>
                </a:solidFill>
              </a:rPr>
              <a:t>Containers management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A8BEDA4-A39D-90F1-01F7-B09FD1C18474}"/>
              </a:ext>
            </a:extLst>
          </p:cNvPr>
          <p:cNvSpPr/>
          <p:nvPr/>
        </p:nvSpPr>
        <p:spPr>
          <a:xfrm>
            <a:off x="15678584" y="7577205"/>
            <a:ext cx="1549674" cy="1188083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chemeClr val="tx1"/>
                </a:solidFill>
              </a:rPr>
              <a:t>Services </a:t>
            </a:r>
            <a:r>
              <a:rPr lang="fr-FR" sz="1684" dirty="0" err="1">
                <a:solidFill>
                  <a:schemeClr val="tx1"/>
                </a:solidFill>
              </a:rPr>
              <a:t>Logging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63F1344-7566-4031-BC3E-3FD619DEFA9A}"/>
              </a:ext>
            </a:extLst>
          </p:cNvPr>
          <p:cNvSpPr/>
          <p:nvPr/>
        </p:nvSpPr>
        <p:spPr>
          <a:xfrm>
            <a:off x="4005716" y="3379450"/>
            <a:ext cx="2274770" cy="1224339"/>
          </a:xfrm>
          <a:prstGeom prst="rect">
            <a:avLst/>
          </a:prstGeom>
          <a:solidFill>
            <a:srgbClr val="FFE699"/>
          </a:solidFill>
          <a:ln>
            <a:solidFill>
              <a:srgbClr val="BFB57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chemeClr val="tx1"/>
                </a:solidFill>
              </a:rPr>
              <a:t>Applications tierces de la Banque</a:t>
            </a:r>
          </a:p>
        </p:txBody>
      </p: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A2656C7C-50B3-8979-7117-62088EABE305}"/>
              </a:ext>
            </a:extLst>
          </p:cNvPr>
          <p:cNvCxnSpPr>
            <a:cxnSpLocks/>
          </p:cNvCxnSpPr>
          <p:nvPr/>
        </p:nvCxnSpPr>
        <p:spPr>
          <a:xfrm>
            <a:off x="5926432" y="4604809"/>
            <a:ext cx="0" cy="39928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ZoneTexte 84">
            <a:extLst>
              <a:ext uri="{FF2B5EF4-FFF2-40B4-BE49-F238E27FC236}">
                <a16:creationId xmlns:a16="http://schemas.microsoft.com/office/drawing/2014/main" id="{E0F48B6E-DB0F-2D23-0F24-17A21B44BF09}"/>
              </a:ext>
            </a:extLst>
          </p:cNvPr>
          <p:cNvSpPr txBox="1"/>
          <p:nvPr/>
        </p:nvSpPr>
        <p:spPr>
          <a:xfrm>
            <a:off x="3976184" y="4864678"/>
            <a:ext cx="1000408" cy="8639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5561" tIns="42781" rIns="85561" bIns="427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84" dirty="0">
                <a:solidFill>
                  <a:srgbClr val="7F7F7F"/>
                </a:solidFill>
              </a:rPr>
              <a:t>Https | </a:t>
            </a:r>
          </a:p>
          <a:p>
            <a:r>
              <a:rPr lang="fr-FR" sz="1684" dirty="0" err="1">
                <a:solidFill>
                  <a:srgbClr val="7F7F7F"/>
                </a:solidFill>
              </a:rPr>
              <a:t>SFtp</a:t>
            </a:r>
            <a:r>
              <a:rPr lang="fr-FR" sz="1684" dirty="0">
                <a:solidFill>
                  <a:srgbClr val="7F7F7F"/>
                </a:solidFill>
              </a:rPr>
              <a:t> | </a:t>
            </a:r>
          </a:p>
          <a:p>
            <a:r>
              <a:rPr lang="fr-FR" sz="1684" dirty="0">
                <a:solidFill>
                  <a:srgbClr val="7F7F7F"/>
                </a:solidFill>
              </a:rPr>
              <a:t>MQ</a:t>
            </a:r>
            <a:endParaRPr lang="fr-FR" sz="1684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07ABECC-C611-5843-5686-CF02D8C3808B}"/>
              </a:ext>
            </a:extLst>
          </p:cNvPr>
          <p:cNvSpPr/>
          <p:nvPr/>
        </p:nvSpPr>
        <p:spPr>
          <a:xfrm>
            <a:off x="15302535" y="4019778"/>
            <a:ext cx="3243433" cy="5196131"/>
          </a:xfrm>
          <a:prstGeom prst="rect">
            <a:avLst/>
          </a:prstGeom>
          <a:noFill/>
          <a:ln>
            <a:solidFill>
              <a:srgbClr val="A86767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84"/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90BAC0D2-ADAF-2CE0-12B8-1BFC68D0A73A}"/>
              </a:ext>
            </a:extLst>
          </p:cNvPr>
          <p:cNvSpPr txBox="1"/>
          <p:nvPr/>
        </p:nvSpPr>
        <p:spPr>
          <a:xfrm>
            <a:off x="15293773" y="4076267"/>
            <a:ext cx="3064604" cy="6047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5561" tIns="42781" rIns="85561" bIns="427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684" dirty="0">
                <a:solidFill>
                  <a:srgbClr val="3F3F3F"/>
                </a:solidFill>
              </a:rPr>
              <a:t>Management &amp; Monitoring</a:t>
            </a:r>
          </a:p>
          <a:p>
            <a:pPr algn="ctr"/>
            <a:r>
              <a:rPr lang="fr-FR" sz="1684" dirty="0">
                <a:solidFill>
                  <a:srgbClr val="3F3F3F"/>
                </a:solidFill>
              </a:rPr>
              <a:t>Technique</a:t>
            </a:r>
            <a:endParaRPr lang="fr-FR" sz="1684" dirty="0"/>
          </a:p>
        </p:txBody>
      </p:sp>
      <p:pic>
        <p:nvPicPr>
          <p:cNvPr id="92" name="Image 91" descr="Spring Cloud - Blueprint for Successful Microservices | E4developer">
            <a:extLst>
              <a:ext uri="{FF2B5EF4-FFF2-40B4-BE49-F238E27FC236}">
                <a16:creationId xmlns:a16="http://schemas.microsoft.com/office/drawing/2014/main" id="{212D4652-F3BC-35B0-8B0E-417DF4F902A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7665" t="499" r="-166" b="15649"/>
          <a:stretch>
            <a:fillRect/>
          </a:stretch>
        </p:blipFill>
        <p:spPr>
          <a:xfrm>
            <a:off x="10975162" y="4666508"/>
            <a:ext cx="451149" cy="389149"/>
          </a:xfrm>
          <a:prstGeom prst="rect">
            <a:avLst/>
          </a:prstGeom>
        </p:spPr>
      </p:pic>
      <p:pic>
        <p:nvPicPr>
          <p:cNvPr id="93" name="Image 92" descr="Icon Spring Boot Icon Spring Boot Framework Version Icon Spring Framework  Svg">
            <a:extLst>
              <a:ext uri="{FF2B5EF4-FFF2-40B4-BE49-F238E27FC236}">
                <a16:creationId xmlns:a16="http://schemas.microsoft.com/office/drawing/2014/main" id="{742C0A4F-C124-20B9-DBF0-42048A48D2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50997" y="10072905"/>
            <a:ext cx="900460" cy="541278"/>
          </a:xfrm>
          <a:prstGeom prst="rect">
            <a:avLst/>
          </a:prstGeom>
        </p:spPr>
      </p:pic>
      <p:cxnSp>
        <p:nvCxnSpPr>
          <p:cNvPr id="96" name="Connecteur droit avec flèche 95">
            <a:extLst>
              <a:ext uri="{FF2B5EF4-FFF2-40B4-BE49-F238E27FC236}">
                <a16:creationId xmlns:a16="http://schemas.microsoft.com/office/drawing/2014/main" id="{1482BA66-A84B-8A35-8C2C-AC2CFE9BF599}"/>
              </a:ext>
            </a:extLst>
          </p:cNvPr>
          <p:cNvCxnSpPr>
            <a:cxnSpLocks/>
          </p:cNvCxnSpPr>
          <p:nvPr/>
        </p:nvCxnSpPr>
        <p:spPr>
          <a:xfrm flipV="1">
            <a:off x="4738324" y="4630622"/>
            <a:ext cx="0" cy="141880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8" name="Image 97" descr="Une image contenant croquis, tableau blanc, conception&#10;&#10;Le contenu généré par l’IA peut être incorrect.">
            <a:extLst>
              <a:ext uri="{FF2B5EF4-FFF2-40B4-BE49-F238E27FC236}">
                <a16:creationId xmlns:a16="http://schemas.microsoft.com/office/drawing/2014/main" id="{A2C284FE-C307-5AA4-6FA1-AC5E46C4FA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2029" y="570690"/>
            <a:ext cx="1035381" cy="626576"/>
          </a:xfrm>
          <a:prstGeom prst="rect">
            <a:avLst/>
          </a:prstGeom>
        </p:spPr>
      </p:pic>
      <p:sp>
        <p:nvSpPr>
          <p:cNvPr id="100" name="ZoneTexte 99">
            <a:extLst>
              <a:ext uri="{FF2B5EF4-FFF2-40B4-BE49-F238E27FC236}">
                <a16:creationId xmlns:a16="http://schemas.microsoft.com/office/drawing/2014/main" id="{02B3FB9E-CA33-1DAC-1E49-DB31119FBCB3}"/>
              </a:ext>
            </a:extLst>
          </p:cNvPr>
          <p:cNvSpPr txBox="1"/>
          <p:nvPr/>
        </p:nvSpPr>
        <p:spPr>
          <a:xfrm>
            <a:off x="7199583" y="711039"/>
            <a:ext cx="2566841" cy="3455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5561" tIns="42781" rIns="85561" bIns="427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684" dirty="0">
                <a:solidFill>
                  <a:srgbClr val="3F3F3F"/>
                </a:solidFill>
              </a:rPr>
              <a:t>Utilisateur</a:t>
            </a:r>
            <a:endParaRPr lang="fr-FR" sz="1684" dirty="0"/>
          </a:p>
        </p:txBody>
      </p:sp>
      <p:cxnSp>
        <p:nvCxnSpPr>
          <p:cNvPr id="101" name="Connecteur droit avec flèche 100">
            <a:extLst>
              <a:ext uri="{FF2B5EF4-FFF2-40B4-BE49-F238E27FC236}">
                <a16:creationId xmlns:a16="http://schemas.microsoft.com/office/drawing/2014/main" id="{FEFA3D32-75FB-9E2B-E225-5AA275662B9C}"/>
              </a:ext>
            </a:extLst>
          </p:cNvPr>
          <p:cNvCxnSpPr>
            <a:cxnSpLocks/>
            <a:stCxn id="98" idx="2"/>
            <a:endCxn id="10" idx="0"/>
          </p:cNvCxnSpPr>
          <p:nvPr/>
        </p:nvCxnSpPr>
        <p:spPr>
          <a:xfrm>
            <a:off x="9669720" y="1197267"/>
            <a:ext cx="0" cy="80040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" name="Image 101" descr="Une image contenant Police, logo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69CE55F4-1AF0-8C42-5F3B-15E81385B2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373955" y="5319578"/>
            <a:ext cx="730501" cy="385431"/>
          </a:xfrm>
          <a:prstGeom prst="rect">
            <a:avLst/>
          </a:prstGeom>
        </p:spPr>
      </p:pic>
      <p:pic>
        <p:nvPicPr>
          <p:cNvPr id="103" name="Image 102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4A9C5564-782A-12C8-A007-56C95D10AF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319975" y="4902449"/>
            <a:ext cx="784650" cy="425958"/>
          </a:xfrm>
          <a:prstGeom prst="rect">
            <a:avLst/>
          </a:prstGeom>
        </p:spPr>
      </p:pic>
      <p:pic>
        <p:nvPicPr>
          <p:cNvPr id="104" name="Image 103">
            <a:extLst>
              <a:ext uri="{FF2B5EF4-FFF2-40B4-BE49-F238E27FC236}">
                <a16:creationId xmlns:a16="http://schemas.microsoft.com/office/drawing/2014/main" id="{7397CEDD-4C89-DEDE-0E28-7F98776C18F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319050" y="7861199"/>
            <a:ext cx="799952" cy="239464"/>
          </a:xfrm>
          <a:prstGeom prst="rect">
            <a:avLst/>
          </a:prstGeom>
        </p:spPr>
      </p:pic>
      <p:pic>
        <p:nvPicPr>
          <p:cNvPr id="105" name="Image 104" descr="Une image contenant logo, symbole, Police, Marque&#10;&#10;Le contenu généré par l’IA peut être incorrect.">
            <a:extLst>
              <a:ext uri="{FF2B5EF4-FFF2-40B4-BE49-F238E27FC236}">
                <a16:creationId xmlns:a16="http://schemas.microsoft.com/office/drawing/2014/main" id="{4E8E29D6-7444-7606-300D-2458C366D6F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82811" y="6337617"/>
            <a:ext cx="797430" cy="372334"/>
          </a:xfrm>
          <a:prstGeom prst="rect">
            <a:avLst/>
          </a:prstGeom>
        </p:spPr>
      </p:pic>
      <p:pic>
        <p:nvPicPr>
          <p:cNvPr id="106" name="Image 105" descr="Download Openshift Logo In Svg Vector Or Png File Format Logowine">
            <a:extLst>
              <a:ext uri="{FF2B5EF4-FFF2-40B4-BE49-F238E27FC236}">
                <a16:creationId xmlns:a16="http://schemas.microsoft.com/office/drawing/2014/main" id="{01C44624-FF5B-7AF5-1A29-664A778E6A2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040991" y="6641007"/>
            <a:ext cx="1275350" cy="890592"/>
          </a:xfrm>
          <a:prstGeom prst="rect">
            <a:avLst/>
          </a:prstGeom>
        </p:spPr>
      </p:pic>
      <p:cxnSp>
        <p:nvCxnSpPr>
          <p:cNvPr id="107" name="Connecteur droit avec flèche 106">
            <a:extLst>
              <a:ext uri="{FF2B5EF4-FFF2-40B4-BE49-F238E27FC236}">
                <a16:creationId xmlns:a16="http://schemas.microsoft.com/office/drawing/2014/main" id="{56C62B22-27E3-D358-C7B4-96DDC119CCDA}"/>
              </a:ext>
            </a:extLst>
          </p:cNvPr>
          <p:cNvCxnSpPr>
            <a:cxnSpLocks/>
          </p:cNvCxnSpPr>
          <p:nvPr/>
        </p:nvCxnSpPr>
        <p:spPr>
          <a:xfrm>
            <a:off x="5926432" y="5631546"/>
            <a:ext cx="0" cy="45632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ZoneTexte 107">
            <a:extLst>
              <a:ext uri="{FF2B5EF4-FFF2-40B4-BE49-F238E27FC236}">
                <a16:creationId xmlns:a16="http://schemas.microsoft.com/office/drawing/2014/main" id="{94C6BE18-3350-BFB6-C2DB-F885DBD97E7B}"/>
              </a:ext>
            </a:extLst>
          </p:cNvPr>
          <p:cNvSpPr txBox="1"/>
          <p:nvPr/>
        </p:nvSpPr>
        <p:spPr>
          <a:xfrm>
            <a:off x="5937082" y="4630590"/>
            <a:ext cx="1007884" cy="3455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5561" tIns="42781" rIns="85561" bIns="427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84" dirty="0">
                <a:solidFill>
                  <a:srgbClr val="7F7F7F"/>
                </a:solidFill>
              </a:rPr>
              <a:t>Https </a:t>
            </a:r>
          </a:p>
        </p:txBody>
      </p:sp>
      <p:sp>
        <p:nvSpPr>
          <p:cNvPr id="109" name="ZoneTexte 108">
            <a:extLst>
              <a:ext uri="{FF2B5EF4-FFF2-40B4-BE49-F238E27FC236}">
                <a16:creationId xmlns:a16="http://schemas.microsoft.com/office/drawing/2014/main" id="{EC4CD327-E774-0347-20A7-B5C950493A18}"/>
              </a:ext>
            </a:extLst>
          </p:cNvPr>
          <p:cNvSpPr txBox="1"/>
          <p:nvPr/>
        </p:nvSpPr>
        <p:spPr>
          <a:xfrm>
            <a:off x="5936252" y="5676078"/>
            <a:ext cx="995527" cy="6047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5561" tIns="42781" rIns="85561" bIns="427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84" dirty="0">
                <a:solidFill>
                  <a:srgbClr val="7F7F7F"/>
                </a:solidFill>
                <a:latin typeface="Aptos"/>
              </a:rPr>
              <a:t>Https </a:t>
            </a:r>
            <a:endParaRPr lang="fr-FR" sz="1684" dirty="0"/>
          </a:p>
          <a:p>
            <a:pPr algn="ctr"/>
            <a:endParaRPr lang="fr-FR" sz="1684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2B466E3-C83B-5176-80A6-8A1B088DDA58}"/>
              </a:ext>
            </a:extLst>
          </p:cNvPr>
          <p:cNvSpPr/>
          <p:nvPr/>
        </p:nvSpPr>
        <p:spPr>
          <a:xfrm>
            <a:off x="7381023" y="11727044"/>
            <a:ext cx="4830894" cy="1644525"/>
          </a:xfrm>
          <a:prstGeom prst="rect">
            <a:avLst/>
          </a:prstGeom>
          <a:noFill/>
          <a:ln>
            <a:solidFill>
              <a:srgbClr val="A86767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84"/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99FD978F-4544-ADB4-E2B7-06D6B8BBAC56}"/>
              </a:ext>
            </a:extLst>
          </p:cNvPr>
          <p:cNvSpPr txBox="1"/>
          <p:nvPr/>
        </p:nvSpPr>
        <p:spPr>
          <a:xfrm>
            <a:off x="9670509" y="3082999"/>
            <a:ext cx="995527" cy="6047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5561" tIns="42781" rIns="85561" bIns="427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84" dirty="0">
                <a:solidFill>
                  <a:srgbClr val="7F7F7F"/>
                </a:solidFill>
                <a:latin typeface="Aptos"/>
              </a:rPr>
              <a:t>Https </a:t>
            </a:r>
            <a:endParaRPr lang="fr-FR" sz="1684" dirty="0"/>
          </a:p>
          <a:p>
            <a:pPr algn="ctr"/>
            <a:endParaRPr lang="fr-FR" sz="1684" dirty="0"/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26E10A41-DB9E-0642-A590-1F75D3584E6A}"/>
              </a:ext>
            </a:extLst>
          </p:cNvPr>
          <p:cNvSpPr txBox="1"/>
          <p:nvPr/>
        </p:nvSpPr>
        <p:spPr>
          <a:xfrm>
            <a:off x="8884735" y="1426469"/>
            <a:ext cx="995527" cy="6047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5561" tIns="42781" rIns="85561" bIns="427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84" dirty="0">
                <a:solidFill>
                  <a:srgbClr val="7F7F7F"/>
                </a:solidFill>
                <a:latin typeface="Aptos"/>
              </a:rPr>
              <a:t>Https </a:t>
            </a:r>
            <a:endParaRPr lang="fr-FR" sz="1684" dirty="0"/>
          </a:p>
          <a:p>
            <a:pPr algn="ctr"/>
            <a:endParaRPr lang="fr-FR" sz="1684" dirty="0"/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5E0719C8-DA64-AA45-1F0B-94EA3CD3F726}"/>
              </a:ext>
            </a:extLst>
          </p:cNvPr>
          <p:cNvSpPr txBox="1"/>
          <p:nvPr/>
        </p:nvSpPr>
        <p:spPr>
          <a:xfrm>
            <a:off x="10058134" y="4549923"/>
            <a:ext cx="995527" cy="6047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5561" tIns="42781" rIns="85561" bIns="427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84">
                <a:solidFill>
                  <a:srgbClr val="7F7F7F"/>
                </a:solidFill>
                <a:latin typeface="Aptos"/>
              </a:rPr>
              <a:t>Https </a:t>
            </a:r>
            <a:endParaRPr lang="fr-FR" sz="1684"/>
          </a:p>
          <a:p>
            <a:pPr algn="ctr"/>
            <a:endParaRPr lang="fr-FR" sz="1684"/>
          </a:p>
        </p:txBody>
      </p:sp>
      <p:sp>
        <p:nvSpPr>
          <p:cNvPr id="114" name="ZoneTexte 113">
            <a:extLst>
              <a:ext uri="{FF2B5EF4-FFF2-40B4-BE49-F238E27FC236}">
                <a16:creationId xmlns:a16="http://schemas.microsoft.com/office/drawing/2014/main" id="{7DFCF88D-414B-4E70-6DC8-030BCE352C3F}"/>
              </a:ext>
            </a:extLst>
          </p:cNvPr>
          <p:cNvSpPr txBox="1"/>
          <p:nvPr/>
        </p:nvSpPr>
        <p:spPr>
          <a:xfrm>
            <a:off x="9143326" y="5691818"/>
            <a:ext cx="995527" cy="6047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5561" tIns="42781" rIns="85561" bIns="427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84">
                <a:solidFill>
                  <a:srgbClr val="7F7F7F"/>
                </a:solidFill>
                <a:latin typeface="Aptos"/>
              </a:rPr>
              <a:t>Https </a:t>
            </a:r>
            <a:endParaRPr lang="fr-FR" sz="1684"/>
          </a:p>
          <a:p>
            <a:pPr algn="ctr"/>
            <a:endParaRPr lang="fr-FR" sz="1684"/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9B8384FA-512C-DCEE-9BA5-4383070D9931}"/>
              </a:ext>
            </a:extLst>
          </p:cNvPr>
          <p:cNvSpPr txBox="1"/>
          <p:nvPr/>
        </p:nvSpPr>
        <p:spPr>
          <a:xfrm>
            <a:off x="14667498" y="6828131"/>
            <a:ext cx="995527" cy="604745"/>
          </a:xfrm>
          <a:prstGeom prst="rect">
            <a:avLst/>
          </a:prstGeom>
          <a:ln>
            <a:no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85561" tIns="42781" rIns="85561" bIns="427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84" dirty="0">
                <a:solidFill>
                  <a:srgbClr val="7F7F7F"/>
                </a:solidFill>
                <a:latin typeface="Aptos"/>
              </a:rPr>
              <a:t>Https </a:t>
            </a:r>
            <a:endParaRPr lang="fr-FR" sz="1684" dirty="0"/>
          </a:p>
          <a:p>
            <a:pPr algn="ctr"/>
            <a:endParaRPr lang="fr-FR" sz="1684" dirty="0"/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B0835A35-2361-8BED-3303-970DAE4F1025}"/>
              </a:ext>
            </a:extLst>
          </p:cNvPr>
          <p:cNvSpPr txBox="1"/>
          <p:nvPr/>
        </p:nvSpPr>
        <p:spPr>
          <a:xfrm>
            <a:off x="11711155" y="11086015"/>
            <a:ext cx="2272470" cy="3455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5561" tIns="42781" rIns="85561" bIns="427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84" dirty="0">
                <a:solidFill>
                  <a:srgbClr val="7F7F7F"/>
                </a:solidFill>
              </a:rPr>
              <a:t>JDBC / Oracle Net</a:t>
            </a:r>
            <a:endParaRPr lang="fr-FR" sz="1684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B31A0-2720-D806-F5B5-828E6DECBB48}"/>
              </a:ext>
            </a:extLst>
          </p:cNvPr>
          <p:cNvSpPr/>
          <p:nvPr/>
        </p:nvSpPr>
        <p:spPr>
          <a:xfrm>
            <a:off x="12050031" y="5058830"/>
            <a:ext cx="2017586" cy="59069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chemeClr val="tx1"/>
                </a:solidFill>
              </a:rPr>
              <a:t>Auth / </a:t>
            </a:r>
            <a:r>
              <a:rPr lang="fr-FR" sz="1684" dirty="0" err="1">
                <a:solidFill>
                  <a:schemeClr val="tx1"/>
                </a:solidFill>
              </a:rPr>
              <a:t>Keycloak</a:t>
            </a:r>
            <a:endParaRPr lang="fr-FR" sz="1684" dirty="0">
              <a:solidFill>
                <a:schemeClr val="tx1"/>
              </a:solidFill>
            </a:endParaRP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AA411FDC-637B-6D5A-1EA3-16A247D78CF9}"/>
              </a:ext>
            </a:extLst>
          </p:cNvPr>
          <p:cNvSpPr/>
          <p:nvPr/>
        </p:nvSpPr>
        <p:spPr>
          <a:xfrm>
            <a:off x="5365599" y="7848164"/>
            <a:ext cx="1897938" cy="85519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rgbClr val="000000"/>
                </a:solidFill>
              </a:rPr>
              <a:t>MS </a:t>
            </a:r>
          </a:p>
          <a:p>
            <a:pPr algn="ctr"/>
            <a:r>
              <a:rPr lang="fr-FR" sz="1684" dirty="0">
                <a:solidFill>
                  <a:srgbClr val="000000"/>
                </a:solidFill>
              </a:rPr>
              <a:t>Workflow</a:t>
            </a:r>
          </a:p>
        </p:txBody>
      </p:sp>
      <p:pic>
        <p:nvPicPr>
          <p:cNvPr id="5" name="Image 4" descr="Microservice - Free electronics icons">
            <a:extLst>
              <a:ext uri="{FF2B5EF4-FFF2-40B4-BE49-F238E27FC236}">
                <a16:creationId xmlns:a16="http://schemas.microsoft.com/office/drawing/2014/main" id="{A792A802-0900-92FB-4716-E4B2EF6B7A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5137" y="7865426"/>
            <a:ext cx="289661" cy="323083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98F07BAE-BE39-95DC-E8E0-75AB181999CD}"/>
              </a:ext>
            </a:extLst>
          </p:cNvPr>
          <p:cNvCxnSpPr>
            <a:cxnSpLocks/>
          </p:cNvCxnSpPr>
          <p:nvPr/>
        </p:nvCxnSpPr>
        <p:spPr>
          <a:xfrm>
            <a:off x="11452477" y="5204422"/>
            <a:ext cx="59755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2868D0D0-12A1-B9F8-F2F0-81CE34F37D61}"/>
              </a:ext>
            </a:extLst>
          </p:cNvPr>
          <p:cNvCxnSpPr>
            <a:cxnSpLocks/>
          </p:cNvCxnSpPr>
          <p:nvPr/>
        </p:nvCxnSpPr>
        <p:spPr>
          <a:xfrm flipH="1">
            <a:off x="11484316" y="5550757"/>
            <a:ext cx="55681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4127E67F-EB97-2C85-B7AA-16D3B5F90E5F}"/>
              </a:ext>
            </a:extLst>
          </p:cNvPr>
          <p:cNvSpPr txBox="1"/>
          <p:nvPr/>
        </p:nvSpPr>
        <p:spPr>
          <a:xfrm>
            <a:off x="9619532" y="6534796"/>
            <a:ext cx="2566841" cy="3455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5561" tIns="42781" rIns="85561" bIns="427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600" i="1" dirty="0">
                <a:solidFill>
                  <a:srgbClr val="3F3F3F"/>
                </a:solidFill>
              </a:rPr>
              <a:t>Services Métiers</a:t>
            </a:r>
            <a:endParaRPr lang="fr-FR" sz="1600" i="1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17B91271-BCA3-CCE3-A160-0540AAEF4803}"/>
              </a:ext>
            </a:extLst>
          </p:cNvPr>
          <p:cNvSpPr txBox="1"/>
          <p:nvPr/>
        </p:nvSpPr>
        <p:spPr>
          <a:xfrm>
            <a:off x="12043122" y="6563271"/>
            <a:ext cx="2566841" cy="3455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5561" tIns="42781" rIns="85561" bIns="427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600" i="1" dirty="0">
                <a:solidFill>
                  <a:srgbClr val="3F3F3F"/>
                </a:solidFill>
              </a:rPr>
              <a:t>Services Référentiels</a:t>
            </a:r>
            <a:endParaRPr lang="fr-FR" sz="1600" i="1" dirty="0"/>
          </a:p>
        </p:txBody>
      </p:sp>
      <p:sp>
        <p:nvSpPr>
          <p:cNvPr id="40" name="Rectangle 23">
            <a:extLst>
              <a:ext uri="{FF2B5EF4-FFF2-40B4-BE49-F238E27FC236}">
                <a16:creationId xmlns:a16="http://schemas.microsoft.com/office/drawing/2014/main" id="{A04B13A4-8506-9B79-579B-691E6FD134EB}"/>
              </a:ext>
            </a:extLst>
          </p:cNvPr>
          <p:cNvSpPr/>
          <p:nvPr/>
        </p:nvSpPr>
        <p:spPr>
          <a:xfrm>
            <a:off x="5365599" y="8863673"/>
            <a:ext cx="1897938" cy="85519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rgbClr val="000000"/>
                </a:solidFill>
              </a:rPr>
              <a:t>MS  GEN</a:t>
            </a:r>
          </a:p>
          <a:p>
            <a:pPr algn="ctr"/>
            <a:r>
              <a:rPr lang="fr-FR" sz="1400" dirty="0">
                <a:solidFill>
                  <a:srgbClr val="000000"/>
                </a:solidFill>
              </a:rPr>
              <a:t>Anti-corruption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135D6BEC-A312-33CE-01A9-73B47BD9BD88}"/>
              </a:ext>
            </a:extLst>
          </p:cNvPr>
          <p:cNvSpPr txBox="1"/>
          <p:nvPr/>
        </p:nvSpPr>
        <p:spPr>
          <a:xfrm>
            <a:off x="8457375" y="6168575"/>
            <a:ext cx="2566841" cy="3455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5561" tIns="42781" rIns="85561" bIns="427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600" i="1" dirty="0">
                <a:solidFill>
                  <a:srgbClr val="3F3F3F"/>
                </a:solidFill>
              </a:rPr>
              <a:t>Backend (Micro-services)</a:t>
            </a:r>
            <a:endParaRPr lang="fr-FR" sz="1600" i="1" dirty="0"/>
          </a:p>
        </p:txBody>
      </p:sp>
      <p:pic>
        <p:nvPicPr>
          <p:cNvPr id="49" name="Image 48" descr="Microservice - Free electronics icons">
            <a:extLst>
              <a:ext uri="{FF2B5EF4-FFF2-40B4-BE49-F238E27FC236}">
                <a16:creationId xmlns:a16="http://schemas.microsoft.com/office/drawing/2014/main" id="{3F145E24-D7FE-C0AA-2858-AD872E2350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0306" y="8935847"/>
            <a:ext cx="289661" cy="323083"/>
          </a:xfrm>
          <a:prstGeom prst="rect">
            <a:avLst/>
          </a:prstGeom>
        </p:spPr>
      </p:pic>
      <p:sp>
        <p:nvSpPr>
          <p:cNvPr id="54" name="Rectangle 1">
            <a:extLst>
              <a:ext uri="{FF2B5EF4-FFF2-40B4-BE49-F238E27FC236}">
                <a16:creationId xmlns:a16="http://schemas.microsoft.com/office/drawing/2014/main" id="{6F3A7F76-5343-6514-2B01-F7E43D517680}"/>
              </a:ext>
            </a:extLst>
          </p:cNvPr>
          <p:cNvSpPr/>
          <p:nvPr/>
        </p:nvSpPr>
        <p:spPr>
          <a:xfrm>
            <a:off x="9916089" y="8006985"/>
            <a:ext cx="1938893" cy="858556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rgbClr val="000000"/>
                </a:solidFill>
              </a:rPr>
              <a:t>MS DOMICILIATION</a:t>
            </a:r>
            <a:endParaRPr lang="fr-FR" sz="1684" dirty="0"/>
          </a:p>
        </p:txBody>
      </p:sp>
      <p:sp>
        <p:nvSpPr>
          <p:cNvPr id="55" name="Rectangle 7">
            <a:extLst>
              <a:ext uri="{FF2B5EF4-FFF2-40B4-BE49-F238E27FC236}">
                <a16:creationId xmlns:a16="http://schemas.microsoft.com/office/drawing/2014/main" id="{75B7C8E1-D438-E49D-56E6-0C2127C5CE49}"/>
              </a:ext>
            </a:extLst>
          </p:cNvPr>
          <p:cNvSpPr/>
          <p:nvPr/>
        </p:nvSpPr>
        <p:spPr>
          <a:xfrm>
            <a:off x="9918169" y="7038372"/>
            <a:ext cx="1938893" cy="858556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rgbClr val="000000"/>
                </a:solidFill>
              </a:rPr>
              <a:t>MS AVA </a:t>
            </a:r>
          </a:p>
          <a:p>
            <a:pPr algn="ctr"/>
            <a:r>
              <a:rPr lang="fr-FR" sz="1684" dirty="0">
                <a:solidFill>
                  <a:srgbClr val="000000"/>
                </a:solidFill>
              </a:rPr>
              <a:t> </a:t>
            </a:r>
            <a:r>
              <a:rPr lang="fr-FR" sz="1123" dirty="0">
                <a:solidFill>
                  <a:srgbClr val="000000"/>
                </a:solidFill>
              </a:rPr>
              <a:t>Allocation Voyages d'Affaires</a:t>
            </a:r>
            <a:endParaRPr lang="fr-FR" sz="1684" dirty="0"/>
          </a:p>
        </p:txBody>
      </p:sp>
      <p:pic>
        <p:nvPicPr>
          <p:cNvPr id="58" name="Image 57" descr="Microservice - Free electronics icons">
            <a:extLst>
              <a:ext uri="{FF2B5EF4-FFF2-40B4-BE49-F238E27FC236}">
                <a16:creationId xmlns:a16="http://schemas.microsoft.com/office/drawing/2014/main" id="{258FAAC5-A2B9-3864-7513-4CA63183E5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3492" y="7056224"/>
            <a:ext cx="289661" cy="323083"/>
          </a:xfrm>
          <a:prstGeom prst="rect">
            <a:avLst/>
          </a:prstGeom>
        </p:spPr>
      </p:pic>
      <p:pic>
        <p:nvPicPr>
          <p:cNvPr id="63" name="Image 62" descr="Microservice - Free electronics icons">
            <a:extLst>
              <a:ext uri="{FF2B5EF4-FFF2-40B4-BE49-F238E27FC236}">
                <a16:creationId xmlns:a16="http://schemas.microsoft.com/office/drawing/2014/main" id="{D78E2906-F061-0C09-7B7C-48ADFFE121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5577" y="8015278"/>
            <a:ext cx="289661" cy="323083"/>
          </a:xfrm>
          <a:prstGeom prst="rect">
            <a:avLst/>
          </a:prstGeom>
        </p:spPr>
      </p:pic>
      <p:pic>
        <p:nvPicPr>
          <p:cNvPr id="65" name="Image 64" descr="Microservice - Free electronics icons">
            <a:extLst>
              <a:ext uri="{FF2B5EF4-FFF2-40B4-BE49-F238E27FC236}">
                <a16:creationId xmlns:a16="http://schemas.microsoft.com/office/drawing/2014/main" id="{F71DF685-1D98-5627-CB08-3B300D89A4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82307" y="8213924"/>
            <a:ext cx="289661" cy="323083"/>
          </a:xfrm>
          <a:prstGeom prst="rect">
            <a:avLst/>
          </a:prstGeom>
        </p:spPr>
      </p:pic>
      <p:pic>
        <p:nvPicPr>
          <p:cNvPr id="66" name="Image 65" descr="Microservice - Free electronics icons">
            <a:extLst>
              <a:ext uri="{FF2B5EF4-FFF2-40B4-BE49-F238E27FC236}">
                <a16:creationId xmlns:a16="http://schemas.microsoft.com/office/drawing/2014/main" id="{0D2C48B5-D35D-EB77-7001-2FC39F2766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82306" y="7242784"/>
            <a:ext cx="289661" cy="323083"/>
          </a:xfrm>
          <a:prstGeom prst="rect">
            <a:avLst/>
          </a:prstGeom>
        </p:spPr>
      </p:pic>
      <p:sp>
        <p:nvSpPr>
          <p:cNvPr id="70" name="Rectangle 28">
            <a:extLst>
              <a:ext uri="{FF2B5EF4-FFF2-40B4-BE49-F238E27FC236}">
                <a16:creationId xmlns:a16="http://schemas.microsoft.com/office/drawing/2014/main" id="{CE909C88-BFA3-1666-9445-098638767BDB}"/>
              </a:ext>
            </a:extLst>
          </p:cNvPr>
          <p:cNvSpPr/>
          <p:nvPr/>
        </p:nvSpPr>
        <p:spPr>
          <a:xfrm>
            <a:off x="2806753" y="6611387"/>
            <a:ext cx="2114743" cy="3267796"/>
          </a:xfrm>
          <a:prstGeom prst="roundRect">
            <a:avLst>
              <a:gd name="adj" fmla="val 8529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84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56018BED-6DD7-69FD-3D19-29F42776BE58}"/>
              </a:ext>
            </a:extLst>
          </p:cNvPr>
          <p:cNvSpPr txBox="1"/>
          <p:nvPr/>
        </p:nvSpPr>
        <p:spPr>
          <a:xfrm>
            <a:off x="2870785" y="6573351"/>
            <a:ext cx="2005926" cy="5788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5561" tIns="42781" rIns="85561" bIns="427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600" i="1" dirty="0">
                <a:solidFill>
                  <a:srgbClr val="3F3F3F"/>
                </a:solidFill>
              </a:rPr>
              <a:t>Services orchestrateurs</a:t>
            </a:r>
            <a:endParaRPr lang="fr-FR" sz="1600" i="1" dirty="0"/>
          </a:p>
        </p:txBody>
      </p:sp>
      <p:sp>
        <p:nvSpPr>
          <p:cNvPr id="72" name="Rectangle 23">
            <a:extLst>
              <a:ext uri="{FF2B5EF4-FFF2-40B4-BE49-F238E27FC236}">
                <a16:creationId xmlns:a16="http://schemas.microsoft.com/office/drawing/2014/main" id="{B9BB3463-AA1F-A72B-6972-82992D3BACE2}"/>
              </a:ext>
            </a:extLst>
          </p:cNvPr>
          <p:cNvSpPr/>
          <p:nvPr/>
        </p:nvSpPr>
        <p:spPr>
          <a:xfrm>
            <a:off x="2919864" y="8424986"/>
            <a:ext cx="1897938" cy="85519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rgbClr val="000000"/>
                </a:solidFill>
              </a:rPr>
              <a:t>MS  WF</a:t>
            </a:r>
          </a:p>
          <a:p>
            <a:pPr algn="ctr"/>
            <a:r>
              <a:rPr lang="fr-FR" sz="1684" dirty="0">
                <a:solidFill>
                  <a:srgbClr val="000000"/>
                </a:solidFill>
              </a:rPr>
              <a:t>Workflow</a:t>
            </a:r>
          </a:p>
        </p:txBody>
      </p:sp>
      <p:pic>
        <p:nvPicPr>
          <p:cNvPr id="80" name="Image 79" descr="Microservice - Free electronics icons">
            <a:extLst>
              <a:ext uri="{FF2B5EF4-FFF2-40B4-BE49-F238E27FC236}">
                <a16:creationId xmlns:a16="http://schemas.microsoft.com/office/drawing/2014/main" id="{F2773BDB-BC13-C4EA-3669-C87A7B710C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9402" y="8442248"/>
            <a:ext cx="289661" cy="323083"/>
          </a:xfrm>
          <a:prstGeom prst="rect">
            <a:avLst/>
          </a:prstGeom>
        </p:spPr>
      </p:pic>
      <p:sp>
        <p:nvSpPr>
          <p:cNvPr id="82" name="Rectangle 23">
            <a:extLst>
              <a:ext uri="{FF2B5EF4-FFF2-40B4-BE49-F238E27FC236}">
                <a16:creationId xmlns:a16="http://schemas.microsoft.com/office/drawing/2014/main" id="{0A586BB2-FBD9-5342-0492-A5F251C4B635}"/>
              </a:ext>
            </a:extLst>
          </p:cNvPr>
          <p:cNvSpPr/>
          <p:nvPr/>
        </p:nvSpPr>
        <p:spPr>
          <a:xfrm>
            <a:off x="2901184" y="7420565"/>
            <a:ext cx="1897938" cy="85519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rgbClr val="000000"/>
                </a:solidFill>
              </a:rPr>
              <a:t>MS  BFF</a:t>
            </a:r>
          </a:p>
        </p:txBody>
      </p:sp>
      <p:pic>
        <p:nvPicPr>
          <p:cNvPr id="84" name="Image 83" descr="Microservice - Free electronics icons">
            <a:extLst>
              <a:ext uri="{FF2B5EF4-FFF2-40B4-BE49-F238E27FC236}">
                <a16:creationId xmlns:a16="http://schemas.microsoft.com/office/drawing/2014/main" id="{088F90BA-CA4B-0D04-10E4-D5F1392EC5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5891" y="7492739"/>
            <a:ext cx="289661" cy="323083"/>
          </a:xfrm>
          <a:prstGeom prst="rect">
            <a:avLst/>
          </a:prstGeom>
        </p:spPr>
      </p:pic>
      <p:sp>
        <p:nvSpPr>
          <p:cNvPr id="89" name="ZoneTexte 88">
            <a:extLst>
              <a:ext uri="{FF2B5EF4-FFF2-40B4-BE49-F238E27FC236}">
                <a16:creationId xmlns:a16="http://schemas.microsoft.com/office/drawing/2014/main" id="{D553AD2E-6FCC-302B-4832-B60BD08A6E0D}"/>
              </a:ext>
            </a:extLst>
          </p:cNvPr>
          <p:cNvSpPr txBox="1"/>
          <p:nvPr/>
        </p:nvSpPr>
        <p:spPr>
          <a:xfrm>
            <a:off x="895331" y="513543"/>
            <a:ext cx="9601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/>
              <a:t>Architecture applicative</a:t>
            </a:r>
          </a:p>
        </p:txBody>
      </p:sp>
    </p:spTree>
    <p:extLst>
      <p:ext uri="{BB962C8B-B14F-4D97-AF65-F5344CB8AC3E}">
        <p14:creationId xmlns:p14="http://schemas.microsoft.com/office/powerpoint/2010/main" val="706698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99D3C7-35A2-665A-817D-A906074068E9}"/>
              </a:ext>
            </a:extLst>
          </p:cNvPr>
          <p:cNvSpPr/>
          <p:nvPr/>
        </p:nvSpPr>
        <p:spPr>
          <a:xfrm>
            <a:off x="7634176" y="5227791"/>
            <a:ext cx="2724240" cy="2423941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684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AC946F-C9F7-BFD2-4ACC-CD1AE6AB856A}"/>
              </a:ext>
            </a:extLst>
          </p:cNvPr>
          <p:cNvSpPr/>
          <p:nvPr/>
        </p:nvSpPr>
        <p:spPr>
          <a:xfrm>
            <a:off x="7786732" y="5377003"/>
            <a:ext cx="2414909" cy="6327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84">
                <a:solidFill>
                  <a:schemeClr val="tx1"/>
                </a:solidFill>
              </a:rPr>
              <a:t>Transfert</a:t>
            </a:r>
            <a:endParaRPr lang="fr-FR" sz="1684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8DD216-3FA9-C6FC-832B-6E044B12052C}"/>
              </a:ext>
            </a:extLst>
          </p:cNvPr>
          <p:cNvSpPr/>
          <p:nvPr/>
        </p:nvSpPr>
        <p:spPr>
          <a:xfrm>
            <a:off x="7786732" y="6118920"/>
            <a:ext cx="2414909" cy="6327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r>
              <a:rPr lang="fr-FR" sz="1684">
                <a:solidFill>
                  <a:schemeClr val="tx1"/>
                </a:solidFill>
              </a:rPr>
              <a:t>Remises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407362-CF9B-AEF0-7A54-2E0501B4A674}"/>
              </a:ext>
            </a:extLst>
          </p:cNvPr>
          <p:cNvSpPr/>
          <p:nvPr/>
        </p:nvSpPr>
        <p:spPr>
          <a:xfrm>
            <a:off x="7786732" y="6870473"/>
            <a:ext cx="2414909" cy="6327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r>
              <a:rPr lang="fr-FR" sz="1684">
                <a:solidFill>
                  <a:schemeClr val="tx1"/>
                </a:solidFill>
              </a:rPr>
              <a:t>CREDOC</a:t>
            </a:r>
            <a:endParaRPr lang="fr-FR" sz="1684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CF83B0-F7D9-0DE7-4893-C3D0BAF9D2B0}"/>
              </a:ext>
            </a:extLst>
          </p:cNvPr>
          <p:cNvSpPr/>
          <p:nvPr/>
        </p:nvSpPr>
        <p:spPr>
          <a:xfrm>
            <a:off x="11373200" y="5179216"/>
            <a:ext cx="2715002" cy="388824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684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F9A4DB7-4727-5D16-0301-2A0A35DF3DDF}"/>
              </a:ext>
            </a:extLst>
          </p:cNvPr>
          <p:cNvSpPr txBox="1"/>
          <p:nvPr/>
        </p:nvSpPr>
        <p:spPr>
          <a:xfrm>
            <a:off x="7876530" y="4871952"/>
            <a:ext cx="2234114" cy="3455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5561" tIns="42781" rIns="85561" bIns="427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84"/>
              <a:t>Modules de règlement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CF1C12F-3515-5409-A509-0EACA1F8EFFB}"/>
              </a:ext>
            </a:extLst>
          </p:cNvPr>
          <p:cNvSpPr txBox="1"/>
          <p:nvPr/>
        </p:nvSpPr>
        <p:spPr>
          <a:xfrm>
            <a:off x="11519460" y="4803714"/>
            <a:ext cx="2465361" cy="3455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5561" tIns="42781" rIns="85561" bIns="427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84"/>
              <a:t>Modules réglementaires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A24608-EBB2-3A31-A312-527AB3104E63}"/>
              </a:ext>
            </a:extLst>
          </p:cNvPr>
          <p:cNvSpPr/>
          <p:nvPr/>
        </p:nvSpPr>
        <p:spPr>
          <a:xfrm>
            <a:off x="7635366" y="4219646"/>
            <a:ext cx="6472370" cy="3619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/>
              <a:t>Règlement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EC0C78-DBB2-7822-0B63-EC1F43A78B3C}"/>
              </a:ext>
            </a:extLst>
          </p:cNvPr>
          <p:cNvSpPr/>
          <p:nvPr/>
        </p:nvSpPr>
        <p:spPr>
          <a:xfrm>
            <a:off x="5551502" y="4966449"/>
            <a:ext cx="1413179" cy="310778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/>
              <a:t>Financement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1AC855-BE43-1B74-FA22-A6072F8F4618}"/>
              </a:ext>
            </a:extLst>
          </p:cNvPr>
          <p:cNvSpPr/>
          <p:nvPr/>
        </p:nvSpPr>
        <p:spPr>
          <a:xfrm>
            <a:off x="11553631" y="6814577"/>
            <a:ext cx="2430164" cy="636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/>
              <a:t>Domiciliation / Apurement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899CB8-AF27-894C-5067-BFB2ABFB3FE8}"/>
              </a:ext>
            </a:extLst>
          </p:cNvPr>
          <p:cNvSpPr/>
          <p:nvPr/>
        </p:nvSpPr>
        <p:spPr>
          <a:xfrm>
            <a:off x="11556531" y="8406646"/>
            <a:ext cx="2430298" cy="5292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/>
              <a:t>AVA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2FEC28-A8A6-3C3B-9C1A-6670935BA57A}"/>
              </a:ext>
            </a:extLst>
          </p:cNvPr>
          <p:cNvSpPr/>
          <p:nvPr/>
        </p:nvSpPr>
        <p:spPr>
          <a:xfrm>
            <a:off x="5710153" y="9422176"/>
            <a:ext cx="9276240" cy="3427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/>
              <a:t>CRO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B5C68B-314F-6EE6-A195-66FBEA753CF0}"/>
              </a:ext>
            </a:extLst>
          </p:cNvPr>
          <p:cNvSpPr/>
          <p:nvPr/>
        </p:nvSpPr>
        <p:spPr>
          <a:xfrm>
            <a:off x="5720183" y="10976554"/>
            <a:ext cx="9276240" cy="323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/>
              <a:t>Référentiel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CDEF28-B40A-CBED-E009-80DAD78666F1}"/>
              </a:ext>
            </a:extLst>
          </p:cNvPr>
          <p:cNvSpPr/>
          <p:nvPr/>
        </p:nvSpPr>
        <p:spPr>
          <a:xfrm>
            <a:off x="11555056" y="5318134"/>
            <a:ext cx="2414909" cy="6327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>
                <a:solidFill>
                  <a:schemeClr val="tx1"/>
                </a:solidFill>
              </a:rPr>
              <a:t>Scolarité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0F04B0-CD30-EBA8-7B96-9F7F0715F358}"/>
              </a:ext>
            </a:extLst>
          </p:cNvPr>
          <p:cNvSpPr/>
          <p:nvPr/>
        </p:nvSpPr>
        <p:spPr>
          <a:xfrm>
            <a:off x="11545289" y="6060052"/>
            <a:ext cx="2414909" cy="6327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>
                <a:solidFill>
                  <a:schemeClr val="tx1"/>
                </a:solidFill>
              </a:rPr>
              <a:t>Fiche d'investissement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6C5817-CFB0-239E-AFB3-8D5EC9083074}"/>
              </a:ext>
            </a:extLst>
          </p:cNvPr>
          <p:cNvSpPr/>
          <p:nvPr/>
        </p:nvSpPr>
        <p:spPr>
          <a:xfrm>
            <a:off x="5552953" y="8254193"/>
            <a:ext cx="1414367" cy="3802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/>
              <a:t>OC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2CD386-792B-F2A7-1BD9-B2D1694EE79A}"/>
              </a:ext>
            </a:extLst>
          </p:cNvPr>
          <p:cNvSpPr/>
          <p:nvPr/>
        </p:nvSpPr>
        <p:spPr>
          <a:xfrm>
            <a:off x="3704403" y="8877647"/>
            <a:ext cx="1403203" cy="391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r>
              <a:rPr lang="fr-FR" sz="1684" err="1">
                <a:solidFill>
                  <a:schemeClr val="tx1"/>
                </a:solidFill>
              </a:rPr>
              <a:t>Reporting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FD1A1D-D040-6C4B-AA26-01C5E570BC8E}"/>
              </a:ext>
            </a:extLst>
          </p:cNvPr>
          <p:cNvSpPr/>
          <p:nvPr/>
        </p:nvSpPr>
        <p:spPr>
          <a:xfrm>
            <a:off x="3704403" y="9388320"/>
            <a:ext cx="1403203" cy="3919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r>
              <a:rPr lang="fr-FR" sz="1684">
                <a:solidFill>
                  <a:schemeClr val="tx1"/>
                </a:solidFill>
              </a:rPr>
              <a:t>Commission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AA18FD-2B8D-B587-74AE-BD6967F5C1C9}"/>
              </a:ext>
            </a:extLst>
          </p:cNvPr>
          <p:cNvSpPr/>
          <p:nvPr/>
        </p:nvSpPr>
        <p:spPr>
          <a:xfrm>
            <a:off x="3704403" y="9918258"/>
            <a:ext cx="1403203" cy="391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r>
              <a:rPr lang="fr-FR" sz="1684">
                <a:solidFill>
                  <a:schemeClr val="tx1"/>
                </a:solidFill>
              </a:rPr>
              <a:t>Comptable</a:t>
            </a:r>
            <a:endParaRPr lang="fr-FR" sz="1684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5DCBC4-7917-E545-1E2D-98FC5956A80C}"/>
              </a:ext>
            </a:extLst>
          </p:cNvPr>
          <p:cNvSpPr/>
          <p:nvPr/>
        </p:nvSpPr>
        <p:spPr>
          <a:xfrm>
            <a:off x="11554949" y="7566657"/>
            <a:ext cx="2430297" cy="7245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/>
              <a:t>Fiche /  Information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986259-378E-465D-3E6D-57771680EEDF}"/>
              </a:ext>
            </a:extLst>
          </p:cNvPr>
          <p:cNvSpPr/>
          <p:nvPr/>
        </p:nvSpPr>
        <p:spPr>
          <a:xfrm>
            <a:off x="9472909" y="5386638"/>
            <a:ext cx="728734" cy="3051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r>
              <a:rPr lang="fr-FR" sz="1684">
                <a:solidFill>
                  <a:schemeClr val="tx1"/>
                </a:solidFill>
              </a:rPr>
              <a:t>IMP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8500D1-B9CC-60E7-45FE-2E9CD87CC18F}"/>
              </a:ext>
            </a:extLst>
          </p:cNvPr>
          <p:cNvSpPr/>
          <p:nvPr/>
        </p:nvSpPr>
        <p:spPr>
          <a:xfrm>
            <a:off x="9472909" y="5704603"/>
            <a:ext cx="728734" cy="3051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r>
              <a:rPr lang="fr-FR" sz="1684">
                <a:solidFill>
                  <a:schemeClr val="tx1"/>
                </a:solidFill>
              </a:rPr>
              <a:t>EXP</a:t>
            </a:r>
            <a:endParaRPr lang="fr-FR" sz="1684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ED34D9-2DF7-3B44-339F-8B193A7974CE}"/>
              </a:ext>
            </a:extLst>
          </p:cNvPr>
          <p:cNvSpPr/>
          <p:nvPr/>
        </p:nvSpPr>
        <p:spPr>
          <a:xfrm>
            <a:off x="9472908" y="6118920"/>
            <a:ext cx="728734" cy="3051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r>
              <a:rPr lang="fr-FR" sz="1684">
                <a:solidFill>
                  <a:schemeClr val="tx1"/>
                </a:solidFill>
              </a:rPr>
              <a:t>IMP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84388E-56BC-189F-34DA-1CE73F8B9246}"/>
              </a:ext>
            </a:extLst>
          </p:cNvPr>
          <p:cNvSpPr/>
          <p:nvPr/>
        </p:nvSpPr>
        <p:spPr>
          <a:xfrm>
            <a:off x="9472908" y="6446520"/>
            <a:ext cx="728734" cy="3051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r>
              <a:rPr lang="fr-FR" sz="1684">
                <a:solidFill>
                  <a:schemeClr val="tx1"/>
                </a:solidFill>
              </a:rPr>
              <a:t>EXP</a:t>
            </a:r>
            <a:endParaRPr lang="fr-FR" sz="1684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3215C9-C757-9D54-E920-123765CEB3D5}"/>
              </a:ext>
            </a:extLst>
          </p:cNvPr>
          <p:cNvSpPr/>
          <p:nvPr/>
        </p:nvSpPr>
        <p:spPr>
          <a:xfrm>
            <a:off x="9463273" y="6870472"/>
            <a:ext cx="728734" cy="3051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r>
              <a:rPr lang="fr-FR" sz="1684">
                <a:solidFill>
                  <a:schemeClr val="tx1"/>
                </a:solidFill>
              </a:rPr>
              <a:t>IMP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AC85FF-89AA-0B77-437A-4EA2732FB156}"/>
              </a:ext>
            </a:extLst>
          </p:cNvPr>
          <p:cNvSpPr/>
          <p:nvPr/>
        </p:nvSpPr>
        <p:spPr>
          <a:xfrm>
            <a:off x="9463273" y="7178670"/>
            <a:ext cx="728734" cy="3051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r>
              <a:rPr lang="fr-FR" sz="1684">
                <a:solidFill>
                  <a:schemeClr val="tx1"/>
                </a:solidFill>
              </a:rPr>
              <a:t>EXP</a:t>
            </a:r>
            <a:endParaRPr lang="fr-FR" sz="1684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C89993-3127-5BAC-D422-FA80156D84A2}"/>
              </a:ext>
            </a:extLst>
          </p:cNvPr>
          <p:cNvSpPr/>
          <p:nvPr/>
        </p:nvSpPr>
        <p:spPr>
          <a:xfrm>
            <a:off x="5549762" y="4670986"/>
            <a:ext cx="1422209" cy="4419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r>
              <a:rPr lang="fr-FR" sz="1684" dirty="0">
                <a:solidFill>
                  <a:schemeClr val="tx1"/>
                </a:solidFill>
              </a:rPr>
              <a:t>IMP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2D8027-358A-4814-7495-2C8F1DBC670E}"/>
              </a:ext>
            </a:extLst>
          </p:cNvPr>
          <p:cNvSpPr/>
          <p:nvPr/>
        </p:nvSpPr>
        <p:spPr>
          <a:xfrm>
            <a:off x="5549762" y="5096388"/>
            <a:ext cx="1422209" cy="4516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561" tIns="42781" rIns="85561" bIns="42781" rtlCol="0" anchor="ctr"/>
          <a:lstStyle/>
          <a:p>
            <a:r>
              <a:rPr lang="fr-FR" sz="1684">
                <a:solidFill>
                  <a:schemeClr val="tx1"/>
                </a:solidFill>
              </a:rPr>
              <a:t>EXP</a:t>
            </a:r>
            <a:endParaRPr lang="fr-FR" sz="1684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F430675E-B62C-87A5-D205-AE270F28B18B}"/>
              </a:ext>
            </a:extLst>
          </p:cNvPr>
          <p:cNvGrpSpPr/>
          <p:nvPr/>
        </p:nvGrpSpPr>
        <p:grpSpPr>
          <a:xfrm>
            <a:off x="7794786" y="7988299"/>
            <a:ext cx="2414910" cy="632783"/>
            <a:chOff x="9103663" y="3738988"/>
            <a:chExt cx="2580829" cy="676259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7B2B8DE-D115-4179-802F-762AA5F91BAB}"/>
                </a:ext>
              </a:extLst>
            </p:cNvPr>
            <p:cNvSpPr/>
            <p:nvPr/>
          </p:nvSpPr>
          <p:spPr>
            <a:xfrm>
              <a:off x="9103663" y="3738988"/>
              <a:ext cx="2580828" cy="67625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5561" tIns="42781" rIns="85561" bIns="42781" rtlCol="0" anchor="ctr"/>
            <a:lstStyle/>
            <a:p>
              <a:r>
                <a:rPr lang="fr-FR" sz="1684">
                  <a:solidFill>
                    <a:schemeClr val="tx1"/>
                  </a:solidFill>
                </a:rPr>
                <a:t>Garanties</a:t>
              </a:r>
              <a:endParaRPr lang="fr-FR" sz="1684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72C6839-221F-587B-811A-65205F18AA4F}"/>
                </a:ext>
              </a:extLst>
            </p:cNvPr>
            <p:cNvSpPr/>
            <p:nvPr/>
          </p:nvSpPr>
          <p:spPr>
            <a:xfrm>
              <a:off x="10905690" y="3749285"/>
              <a:ext cx="778802" cy="32615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5561" tIns="42781" rIns="85561" bIns="42781" rtlCol="0" anchor="ctr"/>
            <a:lstStyle/>
            <a:p>
              <a:r>
                <a:rPr lang="fr-FR" sz="1684">
                  <a:solidFill>
                    <a:schemeClr val="tx1"/>
                  </a:solidFill>
                </a:rPr>
                <a:t>IMP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80216A5-DBC5-C72D-D2BE-2501457E2955}"/>
                </a:ext>
              </a:extLst>
            </p:cNvPr>
            <p:cNvSpPr/>
            <p:nvPr/>
          </p:nvSpPr>
          <p:spPr>
            <a:xfrm>
              <a:off x="10905690" y="4089096"/>
              <a:ext cx="778802" cy="32615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5561" tIns="42781" rIns="85561" bIns="42781" rtlCol="0" anchor="ctr"/>
            <a:lstStyle/>
            <a:p>
              <a:r>
                <a:rPr lang="fr-FR" sz="1684">
                  <a:solidFill>
                    <a:schemeClr val="tx1"/>
                  </a:solidFill>
                </a:rPr>
                <a:t>EXP</a:t>
              </a:r>
              <a:endParaRPr lang="fr-FR" sz="1684"/>
            </a:p>
          </p:txBody>
        </p:sp>
      </p:grp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070EE5F3-62DD-29E6-3A5F-31E953128292}"/>
              </a:ext>
            </a:extLst>
          </p:cNvPr>
          <p:cNvCxnSpPr/>
          <p:nvPr/>
        </p:nvCxnSpPr>
        <p:spPr>
          <a:xfrm>
            <a:off x="5126215" y="9113912"/>
            <a:ext cx="548942" cy="44295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89880BA5-5AE1-13D7-6F0F-D35D2D27AA0A}"/>
              </a:ext>
            </a:extLst>
          </p:cNvPr>
          <p:cNvCxnSpPr>
            <a:cxnSpLocks/>
          </p:cNvCxnSpPr>
          <p:nvPr/>
        </p:nvCxnSpPr>
        <p:spPr>
          <a:xfrm flipV="1">
            <a:off x="5116581" y="9614677"/>
            <a:ext cx="597120" cy="990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3E882494-F493-9C57-92FA-0DFA037A4799}"/>
              </a:ext>
            </a:extLst>
          </p:cNvPr>
          <p:cNvCxnSpPr>
            <a:cxnSpLocks/>
          </p:cNvCxnSpPr>
          <p:nvPr/>
        </p:nvCxnSpPr>
        <p:spPr>
          <a:xfrm flipV="1">
            <a:off x="5116580" y="9691758"/>
            <a:ext cx="568214" cy="38568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A4884C1D-E5C5-4CBC-EFA1-A6B35A1A7E96}"/>
              </a:ext>
            </a:extLst>
          </p:cNvPr>
          <p:cNvSpPr/>
          <p:nvPr/>
        </p:nvSpPr>
        <p:spPr>
          <a:xfrm>
            <a:off x="5720183" y="9913444"/>
            <a:ext cx="9276240" cy="3234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/>
              <a:t>Trésorerie devise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33BB44-3A90-9600-41A4-AA3688BFEAD2}"/>
              </a:ext>
            </a:extLst>
          </p:cNvPr>
          <p:cNvSpPr/>
          <p:nvPr/>
        </p:nvSpPr>
        <p:spPr>
          <a:xfrm>
            <a:off x="5700912" y="10404844"/>
            <a:ext cx="9276240" cy="3234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85561" tIns="42781" rIns="85561" bIns="42781" rtlCol="0" anchor="ctr"/>
          <a:lstStyle/>
          <a:p>
            <a:pPr algn="ctr"/>
            <a:r>
              <a:rPr lang="fr-FR" sz="1684" dirty="0">
                <a:solidFill>
                  <a:srgbClr val="000000"/>
                </a:solidFill>
              </a:rPr>
              <a:t> Centrale des Engagements</a:t>
            </a:r>
            <a:endParaRPr lang="fr-FR" sz="1684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1DD4053-C6F7-5E4E-D2C6-31C2B727682C}"/>
              </a:ext>
            </a:extLst>
          </p:cNvPr>
          <p:cNvSpPr txBox="1"/>
          <p:nvPr/>
        </p:nvSpPr>
        <p:spPr>
          <a:xfrm>
            <a:off x="895331" y="513543"/>
            <a:ext cx="9601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/>
              <a:t>Contexte Applicatif</a:t>
            </a: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1650</TotalTime>
  <Words>481</Words>
  <Application>Microsoft Office PowerPoint</Application>
  <PresentationFormat>Personnalisé</PresentationFormat>
  <Paragraphs>164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Thème Office</vt:lpstr>
      <vt:lpstr>IBAN SYS – V2  Spécification fonctionnelle  &amp; Architecture    Module  AVA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chaabouni mariem</dc:creator>
  <cp:lastModifiedBy>Mariem Chaabouni</cp:lastModifiedBy>
  <cp:revision>871</cp:revision>
  <dcterms:created xsi:type="dcterms:W3CDTF">2025-06-04T15:37:33Z</dcterms:created>
  <dcterms:modified xsi:type="dcterms:W3CDTF">2026-05-15T08:14:35Z</dcterms:modified>
</cp:coreProperties>
</file>